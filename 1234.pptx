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2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22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Мы — команда, работавшая с УК Level Home. Наше решение — Level Intelligence: не новое приложение, а предиктивный слой поверх того цифрового стека, который у Level уже работает.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начали не с идеи, а с аудита заказчика. У Level сильный цифровой стек — пять работающих систем. Проблема не в отсутствии систем: они не связаны между собой, единой платформы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наши гипотезы — это слова руководителя техэксплуатации с консультации 13 июля. Четыре боли, каждая — факт. Все четыре сводятся к одному — узнаём о проблеме от жителя, а не от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четыре боли — одна работа. Сотрудник УК хочет узнавать о проблеме раньше жителя. Житель — бенефициар, а не второй герой. Одна работа сотрудника даёт эффект для жителя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снизу вверх: не трогаем существующий стек, надстраиваемся коннекторами. Три жёстких ограничения: контур обезличивания обязателен, стек только российский, противопожарка — источник сигнала без управляющей стрелки.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движок обслуживает шесть модулей. Флагман — Расчётный центр: боль с самым массовым негативом. Ключевой тезис: одни данные — много предупреждений; каждый новый модуль не требует нового контура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это работает на флагмане. Счётчик молчит 5 дней — это аномалия, видимая в данных опроса. Сегодня её замечают, когда житель получил счёт за 5 месяцев. Мы ловим на второй день — до накопления долга и до жалобы.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экономический аргумент — не бенчмарк, а норма права. По ПП 354 простой лифта сверх суток в месяц снижает плату всему корпусу автоматически, без права регресса. Двое суток простоя обнуляют почти всю месячную выручку по статье на корпус.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Витрина слоя — Агент руководителя эксплуатации. Не новый модуль и не новые источники: LLM поверх событий всех модулей. Ответ на вопрос «где сейчас проблемы?» за секунды вместо обзвона 14 диспетчерских. Плюс аудит: исполнены ли рекомендации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сценарий связывает всё. Игорь получает сигнал и гасит инцидент до остановки лифта; руководитель приоритизирует резерв питания по сводке; Андрей утром уезжает на работающем лифте и жалобу не пишет. Где сотрудник погасил — там житель не пострадал.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Экономика — честно. Детальная финмодель заказчику не нужна — считаем логикой эффекта на подтверждённых статьях потерь. Три модуля из шести считаются на бенчмарках, три — нет, и мы прямо показываем, каких данных не хватает. Каждая цифра — со статусом источника.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Границы — осознанные: никаких ботов с жителем, никакого управления противопожаркой, никакой биометрии, никакой стройки. Внедрение поэтапное: MVP на существующих данных без единого нового датчика, затем дооснащение, затем прогноз на накопленной истории. Реализуемость — главный критерий. Спасибо.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334925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GRAND PRIX '26 · ЭТАП 2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5424012" y="761908"/>
            <a:ext cx="1893045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УК LEVEL HOME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2427834"/>
            <a:ext cx="1142997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2903890"/>
            <a:ext cx="17602160" cy="1542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633"/>
              </a:lnSpc>
              <a:buNone/>
            </a:pPr>
            <a:r>
              <a:rPr lang="en-US" sz="12600" b="1" kern="0" spc="-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Intelligence</a:t>
            </a:r>
            <a:endParaRPr lang="en-US" sz="12600" dirty="0"/>
          </a:p>
        </p:txBody>
      </p:sp>
      <p:sp>
        <p:nvSpPr>
          <p:cNvPr id="6" name="Text 4"/>
          <p:cNvSpPr/>
          <p:nvPr/>
        </p:nvSpPr>
        <p:spPr>
          <a:xfrm>
            <a:off x="1142997" y="4731762"/>
            <a:ext cx="12950161" cy="1044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723"/>
              </a:lnSpc>
              <a:buNone/>
            </a:pPr>
            <a:r>
              <a:rPr lang="en-US" sz="33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Предиктивный слой для управления инфраструктурой жилых комплексов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1142997" y="75496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8" name="Text 6"/>
          <p:cNvSpPr/>
          <p:nvPr/>
        </p:nvSpPr>
        <p:spPr>
          <a:xfrm>
            <a:off x="1142997" y="7882919"/>
            <a:ext cx="4117712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ЗАКАЗЧИК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2997" y="8178144"/>
            <a:ext cx="3855676" cy="577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УК Level Home — ЖК бизнес-класса, Москва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5229149" y="7882919"/>
            <a:ext cx="4117712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ОСНОВАНИЕ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29149" y="8178144"/>
            <a:ext cx="3855676" cy="577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Консультация с техэксплуатацией, 13.07.2026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9315300" y="7882919"/>
            <a:ext cx="4117712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15300" y="8178144"/>
            <a:ext cx="3855676" cy="577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Анализ цифрового стека и открытых источников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3401452" y="7882919"/>
            <a:ext cx="4117861" cy="238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ДАТА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01452" y="8178144"/>
            <a:ext cx="4117861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Июль 2026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142997" y="9189901"/>
            <a:ext cx="10484152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Поверх существующего стека: Domyland · Demand Pro · SCADA · лифтовый ИИ-пилот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955084" y="9098194"/>
            <a:ext cx="3189877" cy="426875"/>
          </a:xfrm>
          <a:prstGeom prst="roundRect">
            <a:avLst>
              <a:gd name="adj" fmla="val 17851"/>
            </a:avLst>
          </a:prstGeom>
          <a:solidFill>
            <a:srgbClr val="6D5AE6"/>
          </a:solidFill>
          <a:ln/>
        </p:spPr>
      </p:sp>
      <p:sp>
        <p:nvSpPr>
          <p:cNvPr id="18" name="Text 16"/>
          <p:cNvSpPr/>
          <p:nvPr/>
        </p:nvSpPr>
        <p:spPr>
          <a:xfrm>
            <a:off x="14145584" y="9202969"/>
            <a:ext cx="2904573" cy="25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объектов бизнес-класса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82378"/>
            <a:ext cx="9996208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Цифровой стек Level уже сильный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58977" y="1795401"/>
            <a:ext cx="2471853" cy="2554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систем · 4 в проде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2997" y="2426747"/>
            <a:ext cx="3017470" cy="5873808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7408" y="2778219"/>
            <a:ext cx="2671514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Domyland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1437408" y="3323429"/>
            <a:ext cx="2504849" cy="426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Приложение жителя: заявки, пропуска, видеонаблюдение, биллинг; CRM обращений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37408" y="7740401"/>
            <a:ext cx="267151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A19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в проде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4388985" y="2426747"/>
            <a:ext cx="3017606" cy="5873808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3396" y="2778219"/>
            <a:ext cx="2671663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Demand Pro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4683396" y="3323429"/>
            <a:ext cx="2504985" cy="426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Заказ услуг, кастомизируется силами Level, без подрядчиков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3396" y="7740401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A19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в проде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7635109" y="2426747"/>
            <a:ext cx="3017606" cy="5873808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29519" y="2778219"/>
            <a:ext cx="2671663" cy="41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SCADA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7929519" y="3323429"/>
            <a:ext cx="2504985" cy="4264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Диспетчерский сбор данных с инженерных систем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29519" y="7740401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1A19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продвинутые объекты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0881232" y="2426747"/>
            <a:ext cx="3017606" cy="5873808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75642" y="2778219"/>
            <a:ext cx="2504985" cy="78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АРМ инженерии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11175642" y="3697318"/>
            <a:ext cx="2504985" cy="3890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Пульты лифтов, вентиляции, паркинга, водоснабжения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75642" y="7740401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B045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разрознены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14127356" y="2426747"/>
            <a:ext cx="3017606" cy="5873808"/>
          </a:xfrm>
          <a:prstGeom prst="roundRect">
            <a:avLst>
              <a:gd name="adj" fmla="val 4419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21766" y="2778219"/>
            <a:ext cx="2504985" cy="78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Лифтовый ИИ-пилот</a:t>
            </a:r>
            <a:endParaRPr lang="en-US" sz="2475" dirty="0"/>
          </a:p>
        </p:txBody>
      </p:sp>
      <p:sp>
        <p:nvSpPr>
          <p:cNvPr id="25" name="Text 23"/>
          <p:cNvSpPr/>
          <p:nvPr/>
        </p:nvSpPr>
        <p:spPr>
          <a:xfrm>
            <a:off x="14421766" y="3697318"/>
            <a:ext cx="2504985" cy="3890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Телеметрия: двери, тяга, частота остановок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421766" y="7740401"/>
            <a:ext cx="267166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● выходит в продакшен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1142997" y="864333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8" name="Shape 26"/>
          <p:cNvSpPr/>
          <p:nvPr/>
        </p:nvSpPr>
        <p:spPr>
          <a:xfrm>
            <a:off x="1142997" y="9260412"/>
            <a:ext cx="685690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29" name="Text 27"/>
          <p:cNvSpPr/>
          <p:nvPr/>
        </p:nvSpPr>
        <p:spPr>
          <a:xfrm>
            <a:off x="2076226" y="8900381"/>
            <a:ext cx="15520798" cy="81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578"/>
              </a:lnSpc>
              <a:buNone/>
            </a:pPr>
            <a:r>
              <a:rPr lang="en-US" sz="25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Проблема не в отсутствии систем — </a:t>
            </a:r>
            <a:r>
              <a:rPr lang="en-US" sz="25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системы не связаны между собой </a:t>
            </a:r>
            <a:r>
              <a:rPr lang="en-US" sz="25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. Единой платформы нет.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82378"/>
            <a:ext cx="8823647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Боли заказчика — его словами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3355258" y="1541070"/>
            <a:ext cx="3789703" cy="445895"/>
          </a:xfrm>
          <a:prstGeom prst="roundRect">
            <a:avLst>
              <a:gd name="adj" fmla="val 50000"/>
            </a:avLst>
          </a:prstGeom>
          <a:solidFill>
            <a:srgbClr val="EDE9FB"/>
          </a:solidFill>
          <a:ln/>
        </p:spPr>
      </p:sp>
      <p:sp>
        <p:nvSpPr>
          <p:cNvPr id="7" name="Text 5"/>
          <p:cNvSpPr/>
          <p:nvPr/>
        </p:nvSpPr>
        <p:spPr>
          <a:xfrm>
            <a:off x="13564808" y="1655370"/>
            <a:ext cx="3484294" cy="25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ФАКТ · КОНСУЛЬТАЦИЯ 13.07.2026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2997" y="2388570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3626" y="2721021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ЛИФТЫ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13626" y="3071678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Негатив №1, резервирования нет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513626" y="3641343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60-этажном корпусе остановка 2 из 4 лифтов — коллапс вертикального транспорта. Простой не возместить с подрядчика.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258238" y="2388570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867" y="2721021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СЧЁТЧИКИ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28867" y="3071678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Счёт приходит через 5 месяцев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28867" y="3641343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Счётчики не опрашиваются вовремя → житель получает сумму сразу за весь период → шквал жалоб.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2997" y="5590403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3626" y="5922854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ДИСПЕТЧЕРСКАЯ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13626" y="6273511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 диспетчера на 14 объектов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513626" y="6843176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Работают на пределе. Пики создают лифты и расчётный центр — усиливать надо узкое место, а не плодить экраны.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258238" y="5590403"/>
            <a:ext cx="7886723" cy="2973315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867" y="5922854"/>
            <a:ext cx="7860013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ПУЛ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28867" y="6273511"/>
            <a:ext cx="786001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Нет сводной картины по пулу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628867" y="6843176"/>
            <a:ext cx="7359830" cy="142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184"/>
              </a:lnSpc>
              <a:buNone/>
            </a:pPr>
            <a:r>
              <a:rPr lang="en-US" sz="187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Руководитель эксплуатации не видит, где сейчас проблемы, без обзвона диспетчеров.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42997" y="8792235"/>
            <a:ext cx="7886723" cy="885269"/>
          </a:xfrm>
          <a:prstGeom prst="roundRect">
            <a:avLst>
              <a:gd name="adj" fmla="val 12911"/>
            </a:avLst>
          </a:prstGeom>
          <a:solidFill>
            <a:srgbClr val="EFEDE7"/>
          </a:solidFill>
          <a:ln/>
        </p:spPr>
      </p:sp>
      <p:sp>
        <p:nvSpPr>
          <p:cNvPr id="25" name="Text 23"/>
          <p:cNvSpPr/>
          <p:nvPr/>
        </p:nvSpPr>
        <p:spPr>
          <a:xfrm>
            <a:off x="1409692" y="9134877"/>
            <a:ext cx="1554398" cy="2380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ПОВЕДЕНИЕ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75081" y="8982713"/>
            <a:ext cx="5961583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Нестандартное поведение во дворе не оцифровано — исполнителя не нашли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258238" y="8792235"/>
            <a:ext cx="7886723" cy="885269"/>
          </a:xfrm>
          <a:prstGeom prst="roundRect">
            <a:avLst>
              <a:gd name="adj" fmla="val 12911"/>
            </a:avLst>
          </a:prstGeom>
          <a:solidFill>
            <a:srgbClr val="EFEDE7"/>
          </a:solidFill>
          <a:ln/>
        </p:spPr>
      </p:sp>
      <p:sp>
        <p:nvSpPr>
          <p:cNvPr id="28" name="Text 26"/>
          <p:cNvSpPr/>
          <p:nvPr/>
        </p:nvSpPr>
        <p:spPr>
          <a:xfrm>
            <a:off x="9524933" y="9134877"/>
            <a:ext cx="1085510" cy="2380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ЛОББИ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86544" y="8982713"/>
            <a:ext cx="6377474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Просторные зоны простаивают, а спрос удалёнщиков на коворкинг высок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82378"/>
            <a:ext cx="6547420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Главная работа (JTBD)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7323716" y="1795401"/>
            <a:ext cx="4696370" cy="2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Jobs To Be Done — работа сотрудника УК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42997" y="2369549"/>
            <a:ext cx="16001964" cy="3220718"/>
          </a:xfrm>
          <a:prstGeom prst="roundRect">
            <a:avLst>
              <a:gd name="adj" fmla="val 4732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5082" y="2873457"/>
            <a:ext cx="15365328" cy="2251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96"/>
              </a:lnSpc>
              <a:buNone/>
            </a:pPr>
            <a:r>
              <a:rPr lang="en-US" sz="330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Когда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я — сотрудник УК (диспетчер, инженер) — отвечаю за инфраструктуру ЖК, </a:t>
            </a:r>
            <a:r>
              <a:rPr lang="en-US" sz="330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я хочу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узнавать о проблеме </a:t>
            </a:r>
            <a:r>
              <a:rPr lang="en-US" sz="3300" dirty="0">
                <a:solidFill>
                  <a:srgbClr val="1A1920"/>
                </a:solidFill>
                <a:highlight>
                  <a:srgbClr val="EDE9FB"/>
                </a:highlight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раньше, чем о ней сообщит житель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, </a:t>
            </a:r>
            <a:r>
              <a:rPr lang="en-US" sz="330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чтобы </a:t>
            </a:r>
            <a:r>
              <a:rPr lang="en-US" sz="33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гасить инциденты проактивно, а не разгребать жалобы постфактум.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2997" y="5885629"/>
            <a:ext cx="181862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ТОЧКА ПЕРЕХОДА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2986765" y="5837805"/>
            <a:ext cx="8063709" cy="36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«реакции на жалобу» → к </a:t>
            </a:r>
            <a:r>
              <a:rPr lang="en-US" sz="19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«предупреждению по данным»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2997" y="6415757"/>
            <a:ext cx="5181598" cy="3261748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4470" y="6748209"/>
            <a:ext cx="4926519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ИСПОЛНИТЕЛЬ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94470" y="7109191"/>
            <a:ext cx="492651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Диспетчер Игорь, инженеры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94470" y="7607665"/>
            <a:ext cx="4613013" cy="177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Реагирует на сигнал до жалобы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53113" y="6415757"/>
            <a:ext cx="5181598" cy="3261748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4585" y="6748209"/>
            <a:ext cx="4926519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ЗАКАЗЧИК РАБОТЫ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6904585" y="7109191"/>
            <a:ext cx="492651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Руководитель эксплуатации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4585" y="7607665"/>
            <a:ext cx="4613013" cy="177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Хочет сводную картину, чтобы управлять пулом из 14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963228" y="6415757"/>
            <a:ext cx="5181598" cy="3261748"/>
          </a:xfrm>
          <a:prstGeom prst="roundRect">
            <a:avLst>
              <a:gd name="adj" fmla="val 4088"/>
            </a:avLst>
          </a:prstGeom>
          <a:solidFill>
            <a:srgbClr val="EDE9FB"/>
          </a:solidFill>
          <a:ln w="8695">
            <a:solidFill>
              <a:srgbClr val="D9D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14701" y="6748209"/>
            <a:ext cx="4926519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БЕНЕФИЦИАР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314701" y="7109191"/>
            <a:ext cx="492651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Житель Андрей, 38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14701" y="7607665"/>
            <a:ext cx="4613013" cy="1775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Получает работающий дом, не замечая проблемы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СХЕМА 1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Shape 3"/>
          <p:cNvSpPr/>
          <p:nvPr/>
        </p:nvSpPr>
        <p:spPr>
          <a:xfrm>
            <a:off x="3971892" y="1298558"/>
            <a:ext cx="10340337" cy="8272470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6" name="Text 4"/>
          <p:cNvSpPr/>
          <p:nvPr/>
        </p:nvSpPr>
        <p:spPr>
          <a:xfrm>
            <a:off x="4462611" y="1684033"/>
            <a:ext cx="10294791" cy="414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77" b="1" kern="0" spc="-23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Архитектура: слой поверх существующего стека</a:t>
            </a:r>
            <a:endParaRPr lang="en-US" sz="2277" dirty="0"/>
          </a:p>
        </p:txBody>
      </p:sp>
      <p:sp>
        <p:nvSpPr>
          <p:cNvPr id="7" name="Text 5"/>
          <p:cNvSpPr/>
          <p:nvPr/>
        </p:nvSpPr>
        <p:spPr>
          <a:xfrm>
            <a:off x="4462611" y="2112506"/>
            <a:ext cx="7762227" cy="566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4" dirty="0">
                <a:solidFill>
                  <a:srgbClr val="5E5A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Intelligence не заменяет то, что уже работает. Он снимает данные с существующих систем, обезличивает их, связывает в одном хранилище и возвращает сотруднику предупреждение — раньше, чем о проблеме сообщит житель.</a:t>
            </a:r>
            <a:endParaRPr lang="en-US" sz="1104" dirty="0"/>
          </a:p>
        </p:txBody>
      </p:sp>
      <p:sp>
        <p:nvSpPr>
          <p:cNvPr id="8" name="Shape 6"/>
          <p:cNvSpPr/>
          <p:nvPr/>
        </p:nvSpPr>
        <p:spPr>
          <a:xfrm>
            <a:off x="4760592" y="2903330"/>
            <a:ext cx="8762939" cy="707705"/>
          </a:xfrm>
          <a:prstGeom prst="roundRect">
            <a:avLst>
              <a:gd name="adj" fmla="val 14859"/>
            </a:avLst>
          </a:prstGeom>
          <a:solidFill>
            <a:srgbClr val="F5F4F8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1329" y="2806211"/>
            <a:ext cx="3001558" cy="188488"/>
          </a:xfrm>
          <a:prstGeom prst="roundRect">
            <a:avLst>
              <a:gd name="adj" fmla="val 27895"/>
            </a:avLst>
          </a:prstGeom>
          <a:solidFill>
            <a:srgbClr val="5E5A73"/>
          </a:solidFill>
          <a:ln/>
        </p:spPr>
      </p:sp>
      <p:sp>
        <p:nvSpPr>
          <p:cNvPr id="10" name="Text 8"/>
          <p:cNvSpPr/>
          <p:nvPr/>
        </p:nvSpPr>
        <p:spPr>
          <a:xfrm>
            <a:off x="5084011" y="2832500"/>
            <a:ext cx="2846241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1 · ИСТОЧНИКИ — СУЩЕСТВУЮЩИЙ СТЕК</a:t>
            </a:r>
            <a:endParaRPr lang="en-US" sz="828" dirty="0"/>
          </a:p>
        </p:txBody>
      </p:sp>
      <p:sp>
        <p:nvSpPr>
          <p:cNvPr id="11" name="Shape 9"/>
          <p:cNvSpPr/>
          <p:nvPr/>
        </p:nvSpPr>
        <p:spPr>
          <a:xfrm>
            <a:off x="4961329" y="3121441"/>
            <a:ext cx="892568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0773" y="3208308"/>
            <a:ext cx="689879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Domyland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50266" y="3121441"/>
            <a:ext cx="1012560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710" y="3208308"/>
            <a:ext cx="809871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/>
              <a:t>Demand Pro</a:t>
            </a:r>
          </a:p>
        </p:txBody>
      </p:sp>
      <p:sp>
        <p:nvSpPr>
          <p:cNvPr id="15" name="Shape 13"/>
          <p:cNvSpPr/>
          <p:nvPr/>
        </p:nvSpPr>
        <p:spPr>
          <a:xfrm>
            <a:off x="7059195" y="3121441"/>
            <a:ext cx="681206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8639" y="3208308"/>
            <a:ext cx="478517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36770" y="3121441"/>
            <a:ext cx="1286792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6214" y="3208308"/>
            <a:ext cx="1084103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АРМ инженерии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19931" y="3121441"/>
            <a:ext cx="1599398" cy="341478"/>
          </a:xfrm>
          <a:prstGeom prst="roundRect">
            <a:avLst>
              <a:gd name="adj" fmla="val 20530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9375" y="3208308"/>
            <a:ext cx="1396709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Лифтовый ИИ-пилот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15698" y="3121441"/>
            <a:ext cx="2242481" cy="341478"/>
          </a:xfrm>
          <a:prstGeom prst="roundRect">
            <a:avLst>
              <a:gd name="adj" fmla="val 20530"/>
            </a:avLst>
          </a:prstGeom>
          <a:solidFill>
            <a:srgbClr val="FBF5E9"/>
          </a:solidFill>
          <a:ln w="7999">
            <a:solidFill>
              <a:srgbClr val="B0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55142" y="3208308"/>
            <a:ext cx="2039792" cy="205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621A"/>
                </a:solidFill>
                <a:highlight>
                  <a:srgbClr val="FBF5E9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Противопожарка </a:t>
            </a:r>
            <a:r>
              <a:rPr lang="en-US" sz="759" dirty="0">
                <a:solidFill>
                  <a:srgbClr val="9671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только чтение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45513" y="3611035"/>
            <a:ext cx="17500" cy="358102"/>
          </a:xfrm>
          <a:prstGeom prst="rect">
            <a:avLst/>
          </a:prstGeom>
          <a:solidFill>
            <a:srgbClr val="C6373C"/>
          </a:solidFill>
          <a:ln/>
        </p:spPr>
      </p:sp>
      <p:sp>
        <p:nvSpPr>
          <p:cNvPr id="24" name="Shape 22"/>
          <p:cNvSpPr/>
          <p:nvPr/>
        </p:nvSpPr>
        <p:spPr>
          <a:xfrm>
            <a:off x="7898266" y="3969137"/>
            <a:ext cx="111993" cy="79995"/>
          </a:xfrm>
          <a:prstGeom prst="rect">
            <a:avLst/>
          </a:prstGeom>
          <a:solidFill>
            <a:srgbClr val="C6373C"/>
          </a:solidFill>
          <a:ln/>
        </p:spPr>
      </p:sp>
      <p:sp>
        <p:nvSpPr>
          <p:cNvPr id="25" name="Text 23"/>
          <p:cNvSpPr/>
          <p:nvPr/>
        </p:nvSpPr>
        <p:spPr>
          <a:xfrm>
            <a:off x="8115377" y="3762026"/>
            <a:ext cx="2497527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A548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сырые данные — только внутрь контура</a:t>
            </a:r>
            <a:endParaRPr lang="en-US" sz="828" dirty="0"/>
          </a:p>
        </p:txBody>
      </p:sp>
      <p:sp>
        <p:nvSpPr>
          <p:cNvPr id="26" name="Shape 24"/>
          <p:cNvSpPr/>
          <p:nvPr/>
        </p:nvSpPr>
        <p:spPr>
          <a:xfrm>
            <a:off x="5987388" y="4049132"/>
            <a:ext cx="6309347" cy="881943"/>
          </a:xfrm>
          <a:prstGeom prst="roundRect">
            <a:avLst>
              <a:gd name="adj" fmla="val 11923"/>
            </a:avLst>
          </a:prstGeom>
          <a:solidFill>
            <a:srgbClr val="FCF0F0"/>
          </a:solidFill>
          <a:ln w="15999">
            <a:solidFill>
              <a:srgbClr val="C637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6125" y="3960013"/>
            <a:ext cx="3799382" cy="188488"/>
          </a:xfrm>
          <a:prstGeom prst="roundRect">
            <a:avLst>
              <a:gd name="adj" fmla="val 27895"/>
            </a:avLst>
          </a:prstGeom>
          <a:solidFill>
            <a:srgbClr val="C6373C"/>
          </a:solidFill>
          <a:ln/>
        </p:spPr>
      </p:sp>
      <p:sp>
        <p:nvSpPr>
          <p:cNvPr id="28" name="Text 26"/>
          <p:cNvSpPr/>
          <p:nvPr/>
        </p:nvSpPr>
        <p:spPr>
          <a:xfrm>
            <a:off x="6318807" y="3986302"/>
            <a:ext cx="3668000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2 · КОНТУР ОБЕЗЛИЧИВАНИЯ — ОБЯЗАТЕЛЬНЫЙ БЛОК</a:t>
            </a:r>
            <a:endParaRPr lang="en-US" sz="828" dirty="0"/>
          </a:p>
        </p:txBody>
      </p:sp>
      <p:sp>
        <p:nvSpPr>
          <p:cNvPr id="29" name="Text 27"/>
          <p:cNvSpPr/>
          <p:nvPr/>
        </p:nvSpPr>
        <p:spPr>
          <a:xfrm>
            <a:off x="6196125" y="4275243"/>
            <a:ext cx="3418168" cy="222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3" b="1" dirty="0">
                <a:solidFill>
                  <a:srgbClr val="A32A2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Данные не уходят вовне в исходном виде</a:t>
            </a:r>
            <a:endParaRPr lang="en-US" sz="1173" dirty="0"/>
          </a:p>
        </p:txBody>
      </p:sp>
      <p:sp>
        <p:nvSpPr>
          <p:cNvPr id="30" name="Text 28"/>
          <p:cNvSpPr/>
          <p:nvPr/>
        </p:nvSpPr>
        <p:spPr>
          <a:xfrm>
            <a:off x="6196125" y="4502978"/>
            <a:ext cx="6068629" cy="310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8F54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удаление и маскирование персональных привязок · допустим гибрид: обезличенные данные → внешняя РФ-модель → возврат в контур Level</a:t>
            </a:r>
            <a:endParaRPr lang="en-US" sz="828" dirty="0"/>
          </a:p>
        </p:txBody>
      </p:sp>
      <p:sp>
        <p:nvSpPr>
          <p:cNvPr id="31" name="Shape 29"/>
          <p:cNvSpPr/>
          <p:nvPr/>
        </p:nvSpPr>
        <p:spPr>
          <a:xfrm>
            <a:off x="8481604" y="4931075"/>
            <a:ext cx="17499" cy="322979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2" name="Shape 30"/>
          <p:cNvSpPr/>
          <p:nvPr/>
        </p:nvSpPr>
        <p:spPr>
          <a:xfrm>
            <a:off x="8434357" y="5254055"/>
            <a:ext cx="111993" cy="79995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33" name="Text 31"/>
          <p:cNvSpPr/>
          <p:nvPr/>
        </p:nvSpPr>
        <p:spPr>
          <a:xfrm>
            <a:off x="8651467" y="5064567"/>
            <a:ext cx="1318129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обезличенные потоки</a:t>
            </a:r>
            <a:endParaRPr lang="en-US" sz="828" dirty="0"/>
          </a:p>
        </p:txBody>
      </p:sp>
      <p:sp>
        <p:nvSpPr>
          <p:cNvPr id="34" name="Shape 32"/>
          <p:cNvSpPr/>
          <p:nvPr/>
        </p:nvSpPr>
        <p:spPr>
          <a:xfrm>
            <a:off x="5987388" y="5334050"/>
            <a:ext cx="6309347" cy="729953"/>
          </a:xfrm>
          <a:prstGeom prst="roundRect">
            <a:avLst>
              <a:gd name="adj" fmla="val 14406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88125" y="5236931"/>
            <a:ext cx="2058618" cy="188488"/>
          </a:xfrm>
          <a:prstGeom prst="roundRect">
            <a:avLst>
              <a:gd name="adj" fmla="val 27895"/>
            </a:avLst>
          </a:prstGeom>
          <a:solidFill>
            <a:srgbClr val="8478C9"/>
          </a:solidFill>
          <a:ln/>
        </p:spPr>
      </p:sp>
      <p:sp>
        <p:nvSpPr>
          <p:cNvPr id="36" name="Text 34"/>
          <p:cNvSpPr/>
          <p:nvPr/>
        </p:nvSpPr>
        <p:spPr>
          <a:xfrm>
            <a:off x="6310807" y="5263220"/>
            <a:ext cx="1889454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3 · ЕДИНОЕ ХРАНИЛИЩЕ</a:t>
            </a:r>
            <a:endParaRPr lang="en-US" sz="828" dirty="0"/>
          </a:p>
        </p:txBody>
      </p:sp>
      <p:sp>
        <p:nvSpPr>
          <p:cNvPr id="37" name="Text 35"/>
          <p:cNvSpPr/>
          <p:nvPr/>
        </p:nvSpPr>
        <p:spPr>
          <a:xfrm>
            <a:off x="6188125" y="5552161"/>
            <a:ext cx="6498659" cy="22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73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Связывает потоки, сегодня изолированные</a:t>
            </a:r>
            <a:endParaRPr lang="en-US" sz="1173" dirty="0"/>
          </a:p>
        </p:txBody>
      </p:sp>
      <p:sp>
        <p:nvSpPr>
          <p:cNvPr id="38" name="Text 36"/>
          <p:cNvSpPr/>
          <p:nvPr/>
        </p:nvSpPr>
        <p:spPr>
          <a:xfrm>
            <a:off x="6188125" y="5779896"/>
            <a:ext cx="6498659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телеметрия ↔ заявки ↔ биллинг ↔ паркинг · ядро тезиса: одни данные — много предупреждений</a:t>
            </a:r>
            <a:endParaRPr lang="en-US" sz="828" dirty="0"/>
          </a:p>
        </p:txBody>
      </p:sp>
      <p:sp>
        <p:nvSpPr>
          <p:cNvPr id="39" name="Shape 37"/>
          <p:cNvSpPr/>
          <p:nvPr/>
        </p:nvSpPr>
        <p:spPr>
          <a:xfrm>
            <a:off x="8544599" y="6064003"/>
            <a:ext cx="17499" cy="322979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40" name="Shape 38"/>
          <p:cNvSpPr/>
          <p:nvPr/>
        </p:nvSpPr>
        <p:spPr>
          <a:xfrm>
            <a:off x="8497352" y="6386982"/>
            <a:ext cx="111993" cy="79995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41" name="Text 39"/>
          <p:cNvSpPr/>
          <p:nvPr/>
        </p:nvSpPr>
        <p:spPr>
          <a:xfrm>
            <a:off x="8714464" y="6197494"/>
            <a:ext cx="1148381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связанные события</a:t>
            </a:r>
            <a:endParaRPr lang="en-US" sz="828" dirty="0"/>
          </a:p>
        </p:txBody>
      </p:sp>
      <p:sp>
        <p:nvSpPr>
          <p:cNvPr id="42" name="Shape 40"/>
          <p:cNvSpPr/>
          <p:nvPr/>
        </p:nvSpPr>
        <p:spPr>
          <a:xfrm>
            <a:off x="5987388" y="6466977"/>
            <a:ext cx="6309347" cy="1016435"/>
          </a:xfrm>
          <a:prstGeom prst="roundRect">
            <a:avLst>
              <a:gd name="adj" fmla="val 10346"/>
            </a:avLst>
          </a:prstGeom>
          <a:solidFill>
            <a:srgbClr val="F4F2FB"/>
          </a:solidFill>
          <a:ln w="15999">
            <a:solidFill>
              <a:srgbClr val="6D5B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6125" y="6377858"/>
            <a:ext cx="3726886" cy="188488"/>
          </a:xfrm>
          <a:prstGeom prst="roundRect">
            <a:avLst>
              <a:gd name="adj" fmla="val 27895"/>
            </a:avLst>
          </a:prstGeom>
          <a:solidFill>
            <a:srgbClr val="6D5BD0"/>
          </a:solidFill>
          <a:ln/>
        </p:spPr>
      </p:sp>
      <p:sp>
        <p:nvSpPr>
          <p:cNvPr id="44" name="Text 42"/>
          <p:cNvSpPr/>
          <p:nvPr/>
        </p:nvSpPr>
        <p:spPr>
          <a:xfrm>
            <a:off x="6318807" y="6404147"/>
            <a:ext cx="3593329" cy="174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kern="0" spc="7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4 · ПРЕДИКТИВНЫЙ ДВИЖОК — РФ-СТЕК, ЛОКАЛЬНО</a:t>
            </a:r>
            <a:endParaRPr lang="en-US" sz="828" dirty="0"/>
          </a:p>
        </p:txBody>
      </p:sp>
      <p:sp>
        <p:nvSpPr>
          <p:cNvPr id="45" name="Shape 43"/>
          <p:cNvSpPr/>
          <p:nvPr/>
        </p:nvSpPr>
        <p:spPr>
          <a:xfrm>
            <a:off x="6196125" y="6701837"/>
            <a:ext cx="1905503" cy="625460"/>
          </a:xfrm>
          <a:prstGeom prst="roundRect">
            <a:avLst>
              <a:gd name="adj" fmla="val 11208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7992" y="6797456"/>
            <a:ext cx="1827946" cy="206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Пороговые правила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17992" y="6991694"/>
            <a:ext cx="1827946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отклонение от нормы</a:t>
            </a:r>
            <a:endParaRPr lang="en-US" sz="759" dirty="0"/>
          </a:p>
        </p:txBody>
      </p:sp>
      <p:sp>
        <p:nvSpPr>
          <p:cNvPr id="48" name="Shape 46"/>
          <p:cNvSpPr/>
          <p:nvPr/>
        </p:nvSpPr>
        <p:spPr>
          <a:xfrm>
            <a:off x="8189247" y="6701837"/>
            <a:ext cx="1905628" cy="625460"/>
          </a:xfrm>
          <a:prstGeom prst="roundRect">
            <a:avLst>
              <a:gd name="adj" fmla="val 11208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11114" y="6797456"/>
            <a:ext cx="1828083" cy="206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Модели деградации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11114" y="6991694"/>
            <a:ext cx="1828083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тренд к отказу · опенсорс</a:t>
            </a:r>
            <a:endParaRPr lang="en-US" sz="759" dirty="0"/>
          </a:p>
        </p:txBody>
      </p:sp>
      <p:sp>
        <p:nvSpPr>
          <p:cNvPr id="51" name="Shape 49"/>
          <p:cNvSpPr/>
          <p:nvPr/>
        </p:nvSpPr>
        <p:spPr>
          <a:xfrm>
            <a:off x="10182495" y="6701837"/>
            <a:ext cx="1905503" cy="625460"/>
          </a:xfrm>
          <a:prstGeom prst="roundRect">
            <a:avLst>
              <a:gd name="adj" fmla="val 11208"/>
            </a:avLst>
          </a:prstGeom>
          <a:solidFill>
            <a:srgbClr val="FFFFFF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04362" y="6797456"/>
            <a:ext cx="1827945" cy="206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LLM-интерпретация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304362" y="6991694"/>
            <a:ext cx="1737968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GigaChat / YandexGPT, обезличено</a:t>
            </a:r>
            <a:endParaRPr lang="en-US" sz="759" dirty="0"/>
          </a:p>
        </p:txBody>
      </p:sp>
      <p:sp>
        <p:nvSpPr>
          <p:cNvPr id="54" name="Shape 52"/>
          <p:cNvSpPr/>
          <p:nvPr/>
        </p:nvSpPr>
        <p:spPr>
          <a:xfrm>
            <a:off x="7555913" y="7483412"/>
            <a:ext cx="17500" cy="375601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55" name="Shape 53"/>
          <p:cNvSpPr/>
          <p:nvPr/>
        </p:nvSpPr>
        <p:spPr>
          <a:xfrm>
            <a:off x="7508666" y="7859013"/>
            <a:ext cx="111993" cy="79995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10586" y="7483412"/>
            <a:ext cx="17500" cy="375601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63339" y="7859013"/>
            <a:ext cx="111992" cy="79995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58" name="Shape 56"/>
          <p:cNvSpPr/>
          <p:nvPr/>
        </p:nvSpPr>
        <p:spPr>
          <a:xfrm>
            <a:off x="5373928" y="7939008"/>
            <a:ext cx="3662891" cy="916691"/>
          </a:xfrm>
          <a:prstGeom prst="roundRect">
            <a:avLst>
              <a:gd name="adj" fmla="val 9559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557165" y="8078374"/>
            <a:ext cx="3626055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5 · ЕДИНОЕ РАБОЧЕЕ МЕСТО</a:t>
            </a:r>
            <a:endParaRPr lang="en-US" sz="759" dirty="0"/>
          </a:p>
        </p:txBody>
      </p:sp>
      <p:sp>
        <p:nvSpPr>
          <p:cNvPr id="60" name="Text 58"/>
          <p:cNvSpPr/>
          <p:nvPr/>
        </p:nvSpPr>
        <p:spPr>
          <a:xfrm>
            <a:off x="5557165" y="8233364"/>
            <a:ext cx="3626055" cy="21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4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Экран диспетчера — объект</a:t>
            </a:r>
            <a:endParaRPr lang="en-US" sz="1104" dirty="0"/>
          </a:p>
        </p:txBody>
      </p:sp>
      <p:sp>
        <p:nvSpPr>
          <p:cNvPr id="61" name="Text 59"/>
          <p:cNvSpPr/>
          <p:nvPr/>
        </p:nvSpPr>
        <p:spPr>
          <a:xfrm>
            <a:off x="5557165" y="8444351"/>
            <a:ext cx="3626055" cy="174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карточки инцидентов по своему объекту + рекомендация</a:t>
            </a:r>
            <a:endParaRPr lang="en-US" sz="828" dirty="0"/>
          </a:p>
        </p:txBody>
      </p:sp>
      <p:sp>
        <p:nvSpPr>
          <p:cNvPr id="62" name="Shape 60"/>
          <p:cNvSpPr/>
          <p:nvPr/>
        </p:nvSpPr>
        <p:spPr>
          <a:xfrm>
            <a:off x="9247054" y="7939008"/>
            <a:ext cx="3663016" cy="916691"/>
          </a:xfrm>
          <a:prstGeom prst="roundRect">
            <a:avLst>
              <a:gd name="adj" fmla="val 9559"/>
            </a:avLst>
          </a:prstGeom>
          <a:solidFill>
            <a:srgbClr val="F0F7FC"/>
          </a:solidFill>
          <a:ln w="7999">
            <a:solidFill>
              <a:srgbClr val="7BA7C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30294" y="8078374"/>
            <a:ext cx="3626192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5 · ЕДИНОЕ РАБОЧЕЕ МЕСТО</a:t>
            </a:r>
            <a:endParaRPr lang="en-US" sz="759" dirty="0"/>
          </a:p>
        </p:txBody>
      </p:sp>
      <p:sp>
        <p:nvSpPr>
          <p:cNvPr id="64" name="Text 62"/>
          <p:cNvSpPr/>
          <p:nvPr/>
        </p:nvSpPr>
        <p:spPr>
          <a:xfrm>
            <a:off x="9430294" y="8233364"/>
            <a:ext cx="3626192" cy="21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4" b="1" dirty="0">
                <a:solidFill>
                  <a:srgbClr val="2C5A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Экран руководителя — пул из 14</a:t>
            </a:r>
            <a:endParaRPr lang="en-US" sz="1104" dirty="0"/>
          </a:p>
        </p:txBody>
      </p:sp>
      <p:sp>
        <p:nvSpPr>
          <p:cNvPr id="65" name="Text 63"/>
          <p:cNvSpPr/>
          <p:nvPr/>
        </p:nvSpPr>
        <p:spPr>
          <a:xfrm>
            <a:off x="9430294" y="8444351"/>
            <a:ext cx="3395435" cy="310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Агент руководителя: сводка по пулу + аудит рекомендаций</a:t>
            </a:r>
            <a:endParaRPr lang="en-US" sz="828" dirty="0"/>
          </a:p>
        </p:txBody>
      </p:sp>
      <p:sp>
        <p:nvSpPr>
          <p:cNvPr id="66" name="Shape 64"/>
          <p:cNvSpPr/>
          <p:nvPr/>
        </p:nvSpPr>
        <p:spPr>
          <a:xfrm>
            <a:off x="4462611" y="9083435"/>
            <a:ext cx="224735" cy="137117"/>
          </a:xfrm>
          <a:prstGeom prst="roundRect">
            <a:avLst>
              <a:gd name="adj" fmla="val 19173"/>
            </a:avLst>
          </a:prstGeom>
          <a:ln w="15999">
            <a:solidFill>
              <a:srgbClr val="C637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74966" y="9083935"/>
            <a:ext cx="3248026" cy="17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закрытый контур: данные не покидают периметр Level</a:t>
            </a:r>
            <a:endParaRPr lang="en-US" sz="828" dirty="0"/>
          </a:p>
        </p:txBody>
      </p:sp>
      <p:sp>
        <p:nvSpPr>
          <p:cNvPr id="68" name="Shape 66"/>
          <p:cNvSpPr/>
          <p:nvPr/>
        </p:nvSpPr>
        <p:spPr>
          <a:xfrm>
            <a:off x="8208746" y="9083435"/>
            <a:ext cx="224736" cy="137117"/>
          </a:xfrm>
          <a:prstGeom prst="roundRect">
            <a:avLst>
              <a:gd name="adj" fmla="val 19173"/>
            </a:avLst>
          </a:prstGeom>
          <a:ln w="15999">
            <a:solidFill>
              <a:srgbClr val="6D5B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21101" y="9083935"/>
            <a:ext cx="580792" cy="17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наш слой</a:t>
            </a:r>
            <a:endParaRPr lang="en-US" sz="828" dirty="0"/>
          </a:p>
        </p:txBody>
      </p:sp>
      <p:sp>
        <p:nvSpPr>
          <p:cNvPr id="70" name="Shape 68"/>
          <p:cNvSpPr/>
          <p:nvPr/>
        </p:nvSpPr>
        <p:spPr>
          <a:xfrm>
            <a:off x="9306051" y="9083435"/>
            <a:ext cx="224735" cy="137117"/>
          </a:xfrm>
          <a:prstGeom prst="roundRect">
            <a:avLst>
              <a:gd name="adj" fmla="val 19173"/>
            </a:avLst>
          </a:prstGeom>
          <a:ln w="15999">
            <a:solidFill>
              <a:srgbClr val="5E5A7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18405" y="9083935"/>
            <a:ext cx="1779091" cy="174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8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существующий стек заказчика</a:t>
            </a:r>
            <a:endParaRPr lang="en-US" sz="82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63357"/>
            <a:ext cx="17602160" cy="60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272"/>
              </a:lnSpc>
              <a:buNone/>
            </a:pPr>
            <a:r>
              <a:rPr lang="en-US" sz="435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Шесть модулей на одном движке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142997" y="2331508"/>
            <a:ext cx="5181598" cy="3134038"/>
          </a:xfrm>
          <a:prstGeom prst="roundRect">
            <a:avLst>
              <a:gd name="adj" fmla="val 4255"/>
            </a:avLst>
          </a:prstGeom>
          <a:solidFill>
            <a:srgbClr val="6D5AE6"/>
          </a:solidFill>
          <a:ln/>
        </p:spPr>
      </p:sp>
      <p:sp>
        <p:nvSpPr>
          <p:cNvPr id="7" name="Text 5"/>
          <p:cNvSpPr/>
          <p:nvPr/>
        </p:nvSpPr>
        <p:spPr>
          <a:xfrm>
            <a:off x="1466754" y="2636244"/>
            <a:ext cx="4987493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DCD6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ФЛАГМАН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466754" y="2959185"/>
            <a:ext cx="4987493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Расчётный центр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66754" y="3509829"/>
            <a:ext cx="4670107" cy="1689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E7E2FB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Молчащий счётчик ловим на 2-й день, не на 150-й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53113" y="2331508"/>
            <a:ext cx="5181598" cy="313403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565" y="2644939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2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6885565" y="2967880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Предиктив инженерии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85565" y="3518524"/>
            <a:ext cx="4652195" cy="1671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Сигнал «узел приближается к отказу» до остановки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963228" y="2331508"/>
            <a:ext cx="5181598" cy="313403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95680" y="2644939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3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2295680" y="2967880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Watch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295680" y="3518524"/>
            <a:ext cx="4652195" cy="1671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События во дворе по парку камер — без биометрии (152-ФЗ)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2997" y="5694065"/>
            <a:ext cx="5181598" cy="313417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75449" y="6007496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4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475449" y="6330437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Диспетчерская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475449" y="6881081"/>
            <a:ext cx="4652195" cy="1671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 пиков заявок, приоритизация, маршрутизация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53113" y="5694065"/>
            <a:ext cx="5181598" cy="313417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565" y="6007496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5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6885565" y="6330437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Park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885565" y="6881081"/>
            <a:ext cx="4652195" cy="1671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P2P-аренда мест жителей, прогноз загрузки паркинга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963228" y="5694065"/>
            <a:ext cx="5181598" cy="3134174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95680" y="6007496"/>
            <a:ext cx="4968364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МОДУЛЬ 6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2295680" y="6330437"/>
            <a:ext cx="4968364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Spaces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2295680" y="6881081"/>
            <a:ext cx="4652195" cy="1671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Бронь и данные о востребованности простаивающих лобби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2997" y="9113954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2997" y="9495723"/>
            <a:ext cx="685690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32" name="Text 30"/>
          <p:cNvSpPr/>
          <p:nvPr/>
        </p:nvSpPr>
        <p:spPr>
          <a:xfrm>
            <a:off x="2076226" y="9332962"/>
            <a:ext cx="6992772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Одни данные — </a:t>
            </a:r>
            <a:r>
              <a:rPr lang="en-US" sz="25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много предупреждений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ФЛАГМАН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63357"/>
            <a:ext cx="17602160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Расчётный центр: аномалия видна в данных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997" y="2331101"/>
            <a:ext cx="8209121" cy="106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879"/>
              </a:lnSpc>
              <a:buNone/>
            </a:pPr>
            <a:r>
              <a:rPr lang="en-US" sz="9000" b="1" kern="0" spc="-225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2-й день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142997" y="3550180"/>
            <a:ext cx="8209121" cy="38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20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сигнал о молчащем счётчике — </a:t>
            </a:r>
            <a:r>
              <a:rPr lang="en-US" sz="202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Intelligence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139224" y="2331101"/>
            <a:ext cx="9525" cy="1566204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9" name="Text 7"/>
          <p:cNvSpPr/>
          <p:nvPr/>
        </p:nvSpPr>
        <p:spPr>
          <a:xfrm>
            <a:off x="9682124" y="2331101"/>
            <a:ext cx="8209121" cy="106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879"/>
              </a:lnSpc>
              <a:buNone/>
            </a:pPr>
            <a:r>
              <a:rPr lang="en-US" sz="9000" b="1" kern="0" spc="-225" dirty="0">
                <a:solidFill>
                  <a:srgbClr val="C9C5B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150-й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9682124" y="3550180"/>
            <a:ext cx="8209121" cy="38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20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жалоба жителя после счёта за 5 месяцев — </a:t>
            </a:r>
            <a:r>
              <a:rPr lang="en-US" sz="2025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сегодня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142997" y="4221061"/>
            <a:ext cx="16001964" cy="1013522"/>
          </a:xfrm>
          <a:prstGeom prst="roundRect">
            <a:avLst>
              <a:gd name="adj" fmla="val 11278"/>
            </a:avLst>
          </a:prstGeom>
          <a:solidFill>
            <a:srgbClr val="EF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13" y="4510445"/>
            <a:ext cx="2346765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БИЛЛИНГОВАЯ АНОМАЛИЯ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28713" y="4449579"/>
            <a:ext cx="14764300" cy="594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счётчик молчит и сумма копится «в тумане» · показания скачут относительно истории · начисление резко расходится с типичным по квартире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2997" y="5558340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997" y="5891606"/>
            <a:ext cx="4164788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Отслеживает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42997" y="6344974"/>
            <a:ext cx="389975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регулярность опроса каждого счётчика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4883" y="5891606"/>
            <a:ext cx="4164788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Предупреждает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214883" y="6344974"/>
            <a:ext cx="4164788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 молчащем счётчике на 2-й день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6769" y="5891606"/>
            <a:ext cx="4164788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Прогнозирует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286769" y="6344974"/>
            <a:ext cx="389975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биллинговые аномалии до накопления долга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358656" y="5891606"/>
            <a:ext cx="4164937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Эскалирует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58656" y="6344974"/>
            <a:ext cx="3899896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зависшую проблему опроса ответственному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5824695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ПРЕДИКТИВ ИНЖЕНЕРИИ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63357"/>
            <a:ext cx="10792311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Простой лифта — потеря по нормативу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3917044" y="1463357"/>
            <a:ext cx="3227918" cy="445895"/>
          </a:xfrm>
          <a:prstGeom prst="roundRect">
            <a:avLst>
              <a:gd name="adj" fmla="val 50000"/>
            </a:avLst>
          </a:prstGeom>
          <a:solidFill>
            <a:srgbClr val="EDE9FB"/>
          </a:solidFill>
          <a:ln/>
        </p:spPr>
      </p:sp>
      <p:sp>
        <p:nvSpPr>
          <p:cNvPr id="7" name="Text 5"/>
          <p:cNvSpPr/>
          <p:nvPr/>
        </p:nvSpPr>
        <p:spPr>
          <a:xfrm>
            <a:off x="14126594" y="1577657"/>
            <a:ext cx="2905656" cy="2553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75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НОРМА ПРАВА · ПП РФ № 354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61992" y="4041453"/>
            <a:ext cx="4938624" cy="861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116"/>
              </a:lnSpc>
              <a:buNone/>
            </a:pPr>
            <a:r>
              <a:rPr lang="en-US" sz="7200" b="1" kern="0" spc="-1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≤ 24 ч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561992" y="5054839"/>
            <a:ext cx="4938624" cy="359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00"/>
              </a:lnSpc>
              <a:buNone/>
            </a:pPr>
            <a:r>
              <a:rPr lang="en-US" sz="19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допустимый простой лифта в месяц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70645" y="2293060"/>
            <a:ext cx="9525" cy="4832027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11" name="Text 9"/>
          <p:cNvSpPr/>
          <p:nvPr/>
        </p:nvSpPr>
        <p:spPr>
          <a:xfrm>
            <a:off x="6899150" y="3880458"/>
            <a:ext cx="4938624" cy="861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116"/>
              </a:lnSpc>
              <a:buNone/>
            </a:pPr>
            <a:r>
              <a:rPr lang="en-US" sz="7200" b="1" kern="0" spc="-150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−0,15 %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899150" y="4893844"/>
            <a:ext cx="4624348" cy="681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00"/>
              </a:lnSpc>
              <a:buNone/>
            </a:pPr>
            <a:r>
              <a:rPr lang="en-US" sz="19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платы за каждый час превышения — </a:t>
            </a:r>
            <a:r>
              <a:rPr lang="en-US" sz="19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всему корпусу</a:t>
            </a:r>
            <a:r>
              <a:rPr lang="en-US" sz="19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, автоматически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807804" y="2293060"/>
            <a:ext cx="9525" cy="4832027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14" name="Text 12"/>
          <p:cNvSpPr/>
          <p:nvPr/>
        </p:nvSpPr>
        <p:spPr>
          <a:xfrm>
            <a:off x="12236309" y="3880458"/>
            <a:ext cx="4938624" cy="861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116"/>
              </a:lnSpc>
              <a:buNone/>
            </a:pPr>
            <a:r>
              <a:rPr lang="en-US" sz="7200" b="1" kern="0" spc="-1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 ₽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12236309" y="4893844"/>
            <a:ext cx="4624348" cy="681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00"/>
              </a:lnSpc>
              <a:buNone/>
            </a:pPr>
            <a:r>
              <a:rPr lang="en-US" sz="19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возмещения: права регресса к подрядчику нет + риск ГЖИ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2997" y="7353605"/>
            <a:ext cx="16001964" cy="2361941"/>
          </a:xfrm>
          <a:prstGeom prst="roundRect">
            <a:avLst>
              <a:gd name="adj" fmla="val 5646"/>
            </a:avLst>
          </a:prstGeom>
          <a:solidFill>
            <a:srgbClr val="6D5AE6"/>
          </a:solidFill>
          <a:ln/>
        </p:spPr>
      </p:sp>
      <p:sp>
        <p:nvSpPr>
          <p:cNvPr id="17" name="Text 15"/>
          <p:cNvSpPr/>
          <p:nvPr/>
        </p:nvSpPr>
        <p:spPr>
          <a:xfrm>
            <a:off x="1561992" y="7715538"/>
            <a:ext cx="15618894" cy="906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905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Одна авария на двое суток обнуляет почти всю месячную выручку по статье «содержание лифта» на корпус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561992" y="8736261"/>
            <a:ext cx="15618894" cy="655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914"/>
              </a:lnSpc>
              <a:buNone/>
            </a:pPr>
            <a:r>
              <a:rPr lang="en-US" sz="1800" dirty="0">
                <a:solidFill>
                  <a:srgbClr val="DCD6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Плюс дельта «аварийный vs плановый» ремонт: 15 000–20 000 ₽ за инцидент </a:t>
            </a:r>
            <a:r>
              <a:rPr lang="en-US" sz="1200" dirty="0">
                <a:solidFill>
                  <a:srgbClr val="DCD6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ФАКТ + БЕНЧМАРК </a:t>
            </a:r>
            <a:r>
              <a:rPr lang="en-US" sz="1800" dirty="0">
                <a:solidFill>
                  <a:srgbClr val="DCD6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· предиктив предотвращает не выезд, а перерасчёт всему корпусу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СХЕМА 4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Shape 3"/>
          <p:cNvSpPr/>
          <p:nvPr/>
        </p:nvSpPr>
        <p:spPr>
          <a:xfrm>
            <a:off x="3524231" y="1465124"/>
            <a:ext cx="11239498" cy="7889441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6" name="Text 4"/>
          <p:cNvSpPr/>
          <p:nvPr/>
        </p:nvSpPr>
        <p:spPr>
          <a:xfrm>
            <a:off x="4057621" y="1884118"/>
            <a:ext cx="11189989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Агент руководителя: собирает из общего слоя данных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57621" y="2323764"/>
            <a:ext cx="8829585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5E5A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Агент — не новый модуль и не новый источник. События шести модулей стекаются в единое хранилище; LLM читает из него и отвечает на вопрос руководителя. Новых данных Агент не заводит.</a:t>
            </a:r>
            <a:endParaRPr lang="en-US" sz="1163" dirty="0"/>
          </a:p>
        </p:txBody>
      </p:sp>
      <p:sp>
        <p:nvSpPr>
          <p:cNvPr id="8" name="Shape 6"/>
          <p:cNvSpPr/>
          <p:nvPr/>
        </p:nvSpPr>
        <p:spPr>
          <a:xfrm>
            <a:off x="4057621" y="2973043"/>
            <a:ext cx="10172717" cy="1311465"/>
          </a:xfrm>
          <a:prstGeom prst="roundRect">
            <a:avLst>
              <a:gd name="adj" fmla="val 10168"/>
            </a:avLst>
          </a:prstGeom>
          <a:solidFill>
            <a:srgbClr val="F5F4F8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5813" y="2867479"/>
            <a:ext cx="2789495" cy="204878"/>
          </a:xfrm>
          <a:prstGeom prst="roundRect">
            <a:avLst>
              <a:gd name="adj" fmla="val 27895"/>
            </a:avLst>
          </a:prstGeom>
          <a:solidFill>
            <a:srgbClr val="5E5A73"/>
          </a:solidFill>
          <a:ln/>
        </p:spPr>
      </p:sp>
      <p:sp>
        <p:nvSpPr>
          <p:cNvPr id="10" name="Text 8"/>
          <p:cNvSpPr/>
          <p:nvPr/>
        </p:nvSpPr>
        <p:spPr>
          <a:xfrm>
            <a:off x="4409163" y="2896054"/>
            <a:ext cx="2606480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МОДУЛЕЙ — СУЩЕСТВУЮЩИЕ СОБЫТИЯ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5813" y="3248297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277" y="3361741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Расчётный центр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08277" y="3564989"/>
            <a:ext cx="133875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молчащие счётчики · биллинг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5917556" y="3248297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0020" y="3361741"/>
            <a:ext cx="1338755" cy="36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Предиктив инженерии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50020" y="3730196"/>
            <a:ext cx="133875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лифты · SCADA · деградация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7559298" y="3248297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1762" y="3361741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Watch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1762" y="3564989"/>
            <a:ext cx="133875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события во дворе · камеры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9201041" y="3248297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3505" y="3361741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Диспетчерская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33505" y="3564989"/>
            <a:ext cx="1388811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поток заявок · пики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0842784" y="3248297"/>
            <a:ext cx="1527484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5248" y="3361741"/>
            <a:ext cx="1388811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Park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5248" y="3564989"/>
            <a:ext cx="1388811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загрузка паркинга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12484526" y="3248297"/>
            <a:ext cx="1527620" cy="856195"/>
          </a:xfrm>
          <a:prstGeom prst="roundRect">
            <a:avLst>
              <a:gd name="adj" fmla="val 89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6990" y="3361741"/>
            <a:ext cx="1388960" cy="2033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Level Spaces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616990" y="3564989"/>
            <a:ext cx="1338891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брони · загрузка пространств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4848195" y="4284508"/>
            <a:ext cx="19021" cy="302698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5535" y="4587206"/>
            <a:ext cx="104341" cy="78256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1" name="Shape 29"/>
          <p:cNvSpPr/>
          <p:nvPr/>
        </p:nvSpPr>
        <p:spPr>
          <a:xfrm>
            <a:off x="6562623" y="4284508"/>
            <a:ext cx="19021" cy="302698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9962" y="4587206"/>
            <a:ext cx="104341" cy="78256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77187" y="4284508"/>
            <a:ext cx="19021" cy="302698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4" name="Shape 32"/>
          <p:cNvSpPr/>
          <p:nvPr/>
        </p:nvSpPr>
        <p:spPr>
          <a:xfrm>
            <a:off x="8234527" y="4587206"/>
            <a:ext cx="104341" cy="78256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5" name="Shape 33"/>
          <p:cNvSpPr/>
          <p:nvPr/>
        </p:nvSpPr>
        <p:spPr>
          <a:xfrm>
            <a:off x="9991616" y="4284508"/>
            <a:ext cx="19021" cy="302698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6" name="Shape 34"/>
          <p:cNvSpPr/>
          <p:nvPr/>
        </p:nvSpPr>
        <p:spPr>
          <a:xfrm>
            <a:off x="9948956" y="4587206"/>
            <a:ext cx="104341" cy="78256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706180" y="4284508"/>
            <a:ext cx="19021" cy="302698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8" name="Shape 36"/>
          <p:cNvSpPr/>
          <p:nvPr/>
        </p:nvSpPr>
        <p:spPr>
          <a:xfrm>
            <a:off x="11663519" y="4587206"/>
            <a:ext cx="104341" cy="78256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39" name="Shape 37"/>
          <p:cNvSpPr/>
          <p:nvPr/>
        </p:nvSpPr>
        <p:spPr>
          <a:xfrm>
            <a:off x="13420608" y="4284508"/>
            <a:ext cx="19021" cy="302698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40" name="Shape 38"/>
          <p:cNvSpPr/>
          <p:nvPr/>
        </p:nvSpPr>
        <p:spPr>
          <a:xfrm>
            <a:off x="13377947" y="4587206"/>
            <a:ext cx="104341" cy="78256"/>
          </a:xfrm>
          <a:prstGeom prst="rect">
            <a:avLst/>
          </a:prstGeom>
          <a:solidFill>
            <a:srgbClr val="8B879E"/>
          </a:solidFill>
          <a:ln/>
        </p:spPr>
      </p:sp>
      <p:sp>
        <p:nvSpPr>
          <p:cNvPr id="41" name="Shape 39"/>
          <p:cNvSpPr/>
          <p:nvPr/>
        </p:nvSpPr>
        <p:spPr>
          <a:xfrm>
            <a:off x="4057621" y="4665462"/>
            <a:ext cx="10172717" cy="532303"/>
          </a:xfrm>
          <a:prstGeom prst="roundRect">
            <a:avLst>
              <a:gd name="adj" fmla="val 21473"/>
            </a:avLst>
          </a:prstGeom>
          <a:solidFill>
            <a:srgbClr val="FFFFFF"/>
          </a:solidFill>
          <a:ln w="8695">
            <a:solidFill>
              <a:srgbClr val="B4ABDD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75813" y="4550388"/>
            <a:ext cx="2631761" cy="204878"/>
          </a:xfrm>
          <a:prstGeom prst="roundRect">
            <a:avLst>
              <a:gd name="adj" fmla="val 27895"/>
            </a:avLst>
          </a:prstGeom>
          <a:solidFill>
            <a:srgbClr val="8478C9"/>
          </a:solidFill>
          <a:ln/>
        </p:spPr>
      </p:sp>
      <p:sp>
        <p:nvSpPr>
          <p:cNvPr id="43" name="Text 41"/>
          <p:cNvSpPr/>
          <p:nvPr/>
        </p:nvSpPr>
        <p:spPr>
          <a:xfrm>
            <a:off x="4409163" y="4578963"/>
            <a:ext cx="2444014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СЛОЙ ДАННЫХ · ЕДИНОЕ ХРАНИЛИЩЕ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75813" y="4864498"/>
            <a:ext cx="3086229" cy="2293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Все события модулей в одном месте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252796" y="4899278"/>
            <a:ext cx="6466121" cy="18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телеметрия ↔ заявки ↔ биллинг ↔ паркинг · связанные события, а не изолированные потоки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91718" y="5197765"/>
            <a:ext cx="19021" cy="294003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47" name="Shape 45"/>
          <p:cNvSpPr/>
          <p:nvPr/>
        </p:nvSpPr>
        <p:spPr>
          <a:xfrm>
            <a:off x="8340362" y="5491768"/>
            <a:ext cx="121731" cy="86951"/>
          </a:xfrm>
          <a:prstGeom prst="rect">
            <a:avLst/>
          </a:prstGeom>
          <a:solidFill>
            <a:srgbClr val="6D5BD0"/>
          </a:solidFill>
          <a:ln/>
        </p:spPr>
      </p:sp>
      <p:sp>
        <p:nvSpPr>
          <p:cNvPr id="48" name="Text 46"/>
          <p:cNvSpPr/>
          <p:nvPr/>
        </p:nvSpPr>
        <p:spPr>
          <a:xfrm>
            <a:off x="8576353" y="5314334"/>
            <a:ext cx="1508219" cy="18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читает хранилище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57621" y="5578719"/>
            <a:ext cx="10172717" cy="587734"/>
          </a:xfrm>
          <a:prstGeom prst="roundRect">
            <a:avLst>
              <a:gd name="adj" fmla="val 19448"/>
            </a:avLst>
          </a:prstGeom>
          <a:solidFill>
            <a:srgbClr val="F4F2FB"/>
          </a:solidFill>
          <a:ln w="17390">
            <a:solidFill>
              <a:srgbClr val="6D5B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84508" y="5472340"/>
            <a:ext cx="1685762" cy="204878"/>
          </a:xfrm>
          <a:prstGeom prst="roundRect">
            <a:avLst>
              <a:gd name="adj" fmla="val 27895"/>
            </a:avLst>
          </a:prstGeom>
          <a:solidFill>
            <a:srgbClr val="6D5BD0"/>
          </a:solidFill>
          <a:ln/>
        </p:spPr>
      </p:sp>
      <p:sp>
        <p:nvSpPr>
          <p:cNvPr id="51" name="Text 49"/>
          <p:cNvSpPr/>
          <p:nvPr/>
        </p:nvSpPr>
        <p:spPr>
          <a:xfrm>
            <a:off x="4417858" y="5500915"/>
            <a:ext cx="1495262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LLM ПОВЕРХ СОБЫТИЙ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84508" y="5805471"/>
            <a:ext cx="3088919" cy="2293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30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Собирает события в ответ на вопрос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63937" y="5840251"/>
            <a:ext cx="6334309" cy="185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A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РФ-стек · обезличенные данные · новых источников не требует — читает общее хранилище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057621" y="6242671"/>
            <a:ext cx="121731" cy="86951"/>
          </a:xfrm>
          <a:prstGeom prst="rect">
            <a:avLst/>
          </a:prstGeom>
          <a:solidFill>
            <a:srgbClr val="5E5A73"/>
          </a:solidFill>
          <a:ln/>
        </p:spPr>
      </p:sp>
      <p:sp>
        <p:nvSpPr>
          <p:cNvPr id="55" name="Shape 53"/>
          <p:cNvSpPr/>
          <p:nvPr/>
        </p:nvSpPr>
        <p:spPr>
          <a:xfrm>
            <a:off x="4108976" y="6329622"/>
            <a:ext cx="19021" cy="674957"/>
          </a:xfrm>
          <a:prstGeom prst="rect">
            <a:avLst/>
          </a:prstGeom>
          <a:solidFill>
            <a:srgbClr val="5E5A73"/>
          </a:solidFill>
          <a:ln/>
        </p:spPr>
      </p:sp>
      <p:sp>
        <p:nvSpPr>
          <p:cNvPr id="56" name="Shape 54"/>
          <p:cNvSpPr/>
          <p:nvPr/>
        </p:nvSpPr>
        <p:spPr>
          <a:xfrm>
            <a:off x="4312631" y="6245659"/>
            <a:ext cx="2154617" cy="755930"/>
          </a:xfrm>
          <a:prstGeom prst="roundRect">
            <a:avLst>
              <a:gd name="adj" fmla="val 12600"/>
            </a:avLst>
          </a:prstGeom>
          <a:solidFill>
            <a:srgbClr val="FFFFFF"/>
          </a:solidFill>
          <a:ln w="8695">
            <a:solidFill>
              <a:srgbClr val="C9C5DA"/>
            </a:solidFill>
            <a:prstDash val="solid"/>
          </a:ln>
          <a:effectLst>
            <a:outerShdw blurRad="28575" dist="9525" dir="5400000" algn="bl" rotWithShape="0">
              <a:srgbClr val="232033">
                <a:alpha val="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473626" y="6368614"/>
            <a:ext cx="2015890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 · ВОПРОС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4473626" y="6537081"/>
            <a:ext cx="2015890" cy="220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«Где сейчас проблемы?»</a:t>
            </a:r>
            <a:endParaRPr lang="en-US" sz="1125" dirty="0"/>
          </a:p>
        </p:txBody>
      </p:sp>
      <p:sp>
        <p:nvSpPr>
          <p:cNvPr id="59" name="Text 57"/>
          <p:cNvSpPr/>
          <p:nvPr/>
        </p:nvSpPr>
        <p:spPr>
          <a:xfrm>
            <a:off x="4473626" y="6748209"/>
            <a:ext cx="2015890" cy="16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вместо обзвона по 14 объектам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8463045" y="6242671"/>
            <a:ext cx="19021" cy="674957"/>
          </a:xfrm>
          <a:prstGeom prst="rect">
            <a:avLst/>
          </a:prstGeom>
          <a:solidFill>
            <a:srgbClr val="2C5A7A"/>
          </a:solidFill>
          <a:ln/>
        </p:spPr>
      </p:sp>
      <p:sp>
        <p:nvSpPr>
          <p:cNvPr id="61" name="Shape 59"/>
          <p:cNvSpPr/>
          <p:nvPr/>
        </p:nvSpPr>
        <p:spPr>
          <a:xfrm>
            <a:off x="8411689" y="6917628"/>
            <a:ext cx="121731" cy="86951"/>
          </a:xfrm>
          <a:prstGeom prst="rect">
            <a:avLst/>
          </a:prstGeom>
          <a:solidFill>
            <a:srgbClr val="2C5A7A"/>
          </a:solidFill>
          <a:ln/>
        </p:spPr>
      </p:sp>
      <p:sp>
        <p:nvSpPr>
          <p:cNvPr id="62" name="Text 60"/>
          <p:cNvSpPr/>
          <p:nvPr/>
        </p:nvSpPr>
        <p:spPr>
          <a:xfrm>
            <a:off x="8647680" y="6475808"/>
            <a:ext cx="1304518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ответ за секунды → руководителю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057621" y="7080796"/>
            <a:ext cx="10172717" cy="1031727"/>
          </a:xfrm>
          <a:prstGeom prst="roundRect">
            <a:avLst>
              <a:gd name="adj" fmla="val 12925"/>
            </a:avLst>
          </a:prstGeom>
          <a:solidFill>
            <a:srgbClr val="F0F7FC"/>
          </a:solidFill>
          <a:ln w="8695">
            <a:solidFill>
              <a:srgbClr val="7BA7C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75813" y="6965722"/>
            <a:ext cx="3183627" cy="204878"/>
          </a:xfrm>
          <a:prstGeom prst="roundRect">
            <a:avLst>
              <a:gd name="adj" fmla="val 27895"/>
            </a:avLst>
          </a:prstGeom>
          <a:solidFill>
            <a:srgbClr val="2C5A7A"/>
          </a:solidFill>
          <a:ln/>
        </p:spPr>
      </p:sp>
      <p:sp>
        <p:nvSpPr>
          <p:cNvPr id="65" name="Text 63"/>
          <p:cNvSpPr/>
          <p:nvPr/>
        </p:nvSpPr>
        <p:spPr>
          <a:xfrm>
            <a:off x="4409163" y="6994297"/>
            <a:ext cx="3012436" cy="185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8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СВОДКА РУКОВОДИТЕЛЮ · ПУЛ 14 ОБЪЕКТОВ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294833" y="7356050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27354" y="7469521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Просадка напряжения ночью</a:t>
            </a:r>
            <a:endParaRPr lang="en-US" sz="1013" dirty="0"/>
          </a:p>
        </p:txBody>
      </p:sp>
      <p:sp>
        <p:nvSpPr>
          <p:cNvPr id="68" name="Shape 66"/>
          <p:cNvSpPr/>
          <p:nvPr/>
        </p:nvSpPr>
        <p:spPr>
          <a:xfrm>
            <a:off x="6257344" y="7356050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89864" y="7469521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Объект на 1 вводе из 2</a:t>
            </a:r>
            <a:endParaRPr lang="en-US" sz="1013" dirty="0"/>
          </a:p>
        </p:txBody>
      </p:sp>
      <p:sp>
        <p:nvSpPr>
          <p:cNvPr id="70" name="Shape 68"/>
          <p:cNvSpPr/>
          <p:nvPr/>
        </p:nvSpPr>
        <p:spPr>
          <a:xfrm>
            <a:off x="8219854" y="7356050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52374" y="7469521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Датчик протечки без реакции</a:t>
            </a:r>
            <a:endParaRPr lang="en-US" sz="1013" dirty="0"/>
          </a:p>
        </p:txBody>
      </p:sp>
      <p:sp>
        <p:nvSpPr>
          <p:cNvPr id="72" name="Shape 70"/>
          <p:cNvSpPr/>
          <p:nvPr/>
        </p:nvSpPr>
        <p:spPr>
          <a:xfrm>
            <a:off x="10182365" y="7356050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FFFFFF"/>
          </a:solidFill>
          <a:ln w="8695">
            <a:solidFill>
              <a:srgbClr val="B8D2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14885" y="7469521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Какие работы идут сейчас</a:t>
            </a:r>
            <a:endParaRPr lang="en-US" sz="1013" dirty="0"/>
          </a:p>
        </p:txBody>
      </p:sp>
      <p:sp>
        <p:nvSpPr>
          <p:cNvPr id="74" name="Shape 72"/>
          <p:cNvSpPr/>
          <p:nvPr/>
        </p:nvSpPr>
        <p:spPr>
          <a:xfrm>
            <a:off x="12144874" y="7356050"/>
            <a:ext cx="1848251" cy="557301"/>
          </a:xfrm>
          <a:prstGeom prst="roundRect">
            <a:avLst>
              <a:gd name="adj" fmla="val 13673"/>
            </a:avLst>
          </a:prstGeom>
          <a:solidFill>
            <a:srgbClr val="E3EFF7"/>
          </a:solidFill>
          <a:ln w="8695">
            <a:solidFill>
              <a:srgbClr val="2C5A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2277394" y="7469521"/>
            <a:ext cx="1659411" cy="368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Аудит исполнения рекомендаций ИИ</a:t>
            </a:r>
            <a:endParaRPr lang="en-US" sz="1013" dirty="0"/>
          </a:p>
        </p:txBody>
      </p:sp>
      <p:sp>
        <p:nvSpPr>
          <p:cNvPr id="76" name="Shape 74"/>
          <p:cNvSpPr/>
          <p:nvPr/>
        </p:nvSpPr>
        <p:spPr>
          <a:xfrm>
            <a:off x="4057621" y="8322021"/>
            <a:ext cx="10172717" cy="651589"/>
          </a:xfrm>
          <a:prstGeom prst="roundRect">
            <a:avLst>
              <a:gd name="adj" fmla="val 14618"/>
            </a:avLst>
          </a:prstGeom>
          <a:solidFill>
            <a:srgbClr val="F5F4F8"/>
          </a:solidFill>
          <a:ln w="8695">
            <a:solidFill>
              <a:srgbClr val="C9C5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56792" y="8489266"/>
            <a:ext cx="870986" cy="1685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74" dirty="0">
                <a:solidFill>
                  <a:srgbClr val="6D5B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СМЫСЛ СХЕМЫ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5203879" y="8454486"/>
            <a:ext cx="9092107" cy="42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93"/>
              </a:lnSpc>
              <a:buNone/>
            </a:pPr>
            <a:r>
              <a:rPr lang="en-US" sz="1088" dirty="0">
                <a:solidFill>
                  <a:srgbClr val="3A365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Агент — витрина, не модуль: он не расширяет контур данных, а читает единое хранилище и отвечает на вопросы по тому, что модули уже собрали. Выход — рекомендация человеку, не автопилот.</a:t>
            </a:r>
            <a:endParaRPr lang="en-US" sz="10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407736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 · СХЕМА 3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Shape 3"/>
          <p:cNvSpPr/>
          <p:nvPr/>
        </p:nvSpPr>
        <p:spPr>
          <a:xfrm>
            <a:off x="3971829" y="1304133"/>
            <a:ext cx="10340337" cy="8299968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6" name="Text 4"/>
          <p:cNvSpPr/>
          <p:nvPr/>
        </p:nvSpPr>
        <p:spPr>
          <a:xfrm>
            <a:off x="4462611" y="1669632"/>
            <a:ext cx="10294791" cy="390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8" b="1" kern="0" spc="-22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Лифт корпуса 3: процессы диспетчера и руководителя</a:t>
            </a:r>
            <a:endParaRPr lang="en-US" sz="2208" dirty="0"/>
          </a:p>
        </p:txBody>
      </p:sp>
      <p:sp>
        <p:nvSpPr>
          <p:cNvPr id="7" name="Text 5"/>
          <p:cNvSpPr/>
          <p:nvPr/>
        </p:nvSpPr>
        <p:spPr>
          <a:xfrm>
            <a:off x="4462611" y="2074106"/>
            <a:ext cx="7942722" cy="390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E5A7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Диспетчер гасит инцидент на объекте, руководитель управляет пулом из 14. Связывает их эскалация — человеку, через Агента как интерфейс.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4462611" y="2653819"/>
            <a:ext cx="9358901" cy="2173736"/>
          </a:xfrm>
          <a:prstGeom prst="roundRect">
            <a:avLst>
              <a:gd name="adj" fmla="val 5644"/>
            </a:avLst>
          </a:prstGeom>
          <a:solidFill>
            <a:srgbClr val="F5F4F8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0611" y="2661819"/>
            <a:ext cx="385475" cy="2157737"/>
          </a:xfrm>
          <a:prstGeom prst="rect">
            <a:avLst/>
          </a:prstGeom>
          <a:solidFill>
            <a:srgbClr val="5E5A73"/>
          </a:solidFill>
          <a:ln/>
        </p:spPr>
      </p:sp>
      <p:sp>
        <p:nvSpPr>
          <p:cNvPr id="10" name="Text 8"/>
          <p:cNvSpPr/>
          <p:nvPr/>
        </p:nvSpPr>
        <p:spPr>
          <a:xfrm rot="10800000">
            <a:off x="4603352" y="2661819"/>
            <a:ext cx="196192" cy="2195837"/>
          </a:xfrm>
          <a:prstGeom prst="rect">
            <a:avLst/>
          </a:prstGeom>
          <a:noFill/>
          <a:ln/>
        </p:spPr>
        <p:txBody>
          <a:bodyPr vert="eaVert"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kern="0" spc="7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ПУЛ 1 · ДИСПЕТЧЕР ИГОРЬ — ОБЪЕКТ</a:t>
            </a:r>
            <a:endParaRPr lang="en-US" sz="759" dirty="0"/>
          </a:p>
        </p:txBody>
      </p:sp>
      <p:sp>
        <p:nvSpPr>
          <p:cNvPr id="11" name="Shape 9"/>
          <p:cNvSpPr/>
          <p:nvPr/>
        </p:nvSpPr>
        <p:spPr>
          <a:xfrm>
            <a:off x="4996201" y="2801935"/>
            <a:ext cx="2024746" cy="1877505"/>
          </a:xfrm>
          <a:prstGeom prst="roundRect">
            <a:avLst>
              <a:gd name="adj" fmla="val 4667"/>
            </a:avLst>
          </a:prstGeom>
          <a:solidFill>
            <a:srgbClr val="F4F2FB"/>
          </a:solidFill>
          <a:ln w="7999">
            <a:solidFill>
              <a:srgbClr val="B4AB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6818" y="2915052"/>
            <a:ext cx="192738" cy="192738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13" name="Text 11"/>
          <p:cNvSpPr/>
          <p:nvPr/>
        </p:nvSpPr>
        <p:spPr>
          <a:xfrm>
            <a:off x="5088718" y="2915052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828" dirty="0"/>
          </a:p>
        </p:txBody>
      </p:sp>
      <p:sp>
        <p:nvSpPr>
          <p:cNvPr id="14" name="Text 12"/>
          <p:cNvSpPr/>
          <p:nvPr/>
        </p:nvSpPr>
        <p:spPr>
          <a:xfrm>
            <a:off x="5389552" y="2955425"/>
            <a:ext cx="1613046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7FC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СИГНАЛ · LEVEL INTELLIGENCE</a:t>
            </a:r>
            <a:endParaRPr lang="en-US" sz="690" dirty="0"/>
          </a:p>
        </p:txBody>
      </p:sp>
      <p:sp>
        <p:nvSpPr>
          <p:cNvPr id="15" name="Text 13"/>
          <p:cNvSpPr/>
          <p:nvPr/>
        </p:nvSpPr>
        <p:spPr>
          <a:xfrm>
            <a:off x="5126818" y="3169036"/>
            <a:ext cx="1839712" cy="67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dirty="0">
                <a:solidFill>
                  <a:srgbClr val="3A30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Рост остановок лифта корпуса 3 + просадка напряжения → детекция деградации, связка с заявками</a:t>
            </a:r>
            <a:endParaRPr lang="en-US" sz="932" dirty="0"/>
          </a:p>
        </p:txBody>
      </p:sp>
      <p:sp>
        <p:nvSpPr>
          <p:cNvPr id="16" name="Text 14"/>
          <p:cNvSpPr/>
          <p:nvPr/>
        </p:nvSpPr>
        <p:spPr>
          <a:xfrm>
            <a:off x="6982847" y="2801935"/>
            <a:ext cx="268938" cy="191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6D5B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17" name="Shape 15"/>
          <p:cNvSpPr/>
          <p:nvPr/>
        </p:nvSpPr>
        <p:spPr>
          <a:xfrm>
            <a:off x="7213685" y="2801935"/>
            <a:ext cx="2024746" cy="1877505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44301" y="2915052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19" name="Text 17"/>
          <p:cNvSpPr/>
          <p:nvPr/>
        </p:nvSpPr>
        <p:spPr>
          <a:xfrm>
            <a:off x="7306201" y="2915052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828" dirty="0"/>
          </a:p>
        </p:txBody>
      </p:sp>
      <p:sp>
        <p:nvSpPr>
          <p:cNvPr id="20" name="Text 18"/>
          <p:cNvSpPr/>
          <p:nvPr/>
        </p:nvSpPr>
        <p:spPr>
          <a:xfrm>
            <a:off x="7607035" y="2955425"/>
            <a:ext cx="836651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ИГОРЬ · РАЗБОР</a:t>
            </a:r>
            <a:endParaRPr lang="en-US" sz="690" dirty="0"/>
          </a:p>
        </p:txBody>
      </p:sp>
      <p:sp>
        <p:nvSpPr>
          <p:cNvPr id="21" name="Text 19"/>
          <p:cNvSpPr/>
          <p:nvPr/>
        </p:nvSpPr>
        <p:spPr>
          <a:xfrm>
            <a:off x="7344301" y="3169036"/>
            <a:ext cx="1839712" cy="671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Видит карточку «лифт корпуса 3, кабина 2 → приближение к отказу» с основанием и рекомендацией</a:t>
            </a:r>
            <a:endParaRPr lang="en-US" sz="932" dirty="0"/>
          </a:p>
        </p:txBody>
      </p:sp>
      <p:sp>
        <p:nvSpPr>
          <p:cNvPr id="22" name="Text 20"/>
          <p:cNvSpPr/>
          <p:nvPr/>
        </p:nvSpPr>
        <p:spPr>
          <a:xfrm>
            <a:off x="9200330" y="2801935"/>
            <a:ext cx="268938" cy="191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23" name="Shape 21"/>
          <p:cNvSpPr/>
          <p:nvPr/>
        </p:nvSpPr>
        <p:spPr>
          <a:xfrm>
            <a:off x="9431168" y="2801935"/>
            <a:ext cx="2024745" cy="1877505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1784" y="2915052"/>
            <a:ext cx="192737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25" name="Text 23"/>
          <p:cNvSpPr/>
          <p:nvPr/>
        </p:nvSpPr>
        <p:spPr>
          <a:xfrm>
            <a:off x="9523684" y="2915052"/>
            <a:ext cx="268937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828" dirty="0"/>
          </a:p>
        </p:txBody>
      </p:sp>
      <p:sp>
        <p:nvSpPr>
          <p:cNvPr id="26" name="Text 24"/>
          <p:cNvSpPr/>
          <p:nvPr/>
        </p:nvSpPr>
        <p:spPr>
          <a:xfrm>
            <a:off x="9824517" y="2955425"/>
            <a:ext cx="836651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ИГОРЬ · ЗАЯВКА</a:t>
            </a:r>
            <a:endParaRPr lang="en-US" sz="690" dirty="0"/>
          </a:p>
        </p:txBody>
      </p:sp>
      <p:sp>
        <p:nvSpPr>
          <p:cNvPr id="27" name="Text 25"/>
          <p:cNvSpPr/>
          <p:nvPr/>
        </p:nvSpPr>
        <p:spPr>
          <a:xfrm>
            <a:off x="9561784" y="3169036"/>
            <a:ext cx="1839711" cy="51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Заводит плановую заявку подрядчику — до отказа, не после</a:t>
            </a:r>
            <a:endParaRPr lang="en-US" sz="932" dirty="0"/>
          </a:p>
        </p:txBody>
      </p:sp>
      <p:sp>
        <p:nvSpPr>
          <p:cNvPr id="28" name="Text 26"/>
          <p:cNvSpPr/>
          <p:nvPr/>
        </p:nvSpPr>
        <p:spPr>
          <a:xfrm>
            <a:off x="11417814" y="2801935"/>
            <a:ext cx="268938" cy="191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29" name="Shape 27"/>
          <p:cNvSpPr/>
          <p:nvPr/>
        </p:nvSpPr>
        <p:spPr>
          <a:xfrm>
            <a:off x="11648651" y="2801935"/>
            <a:ext cx="2024745" cy="1877505"/>
          </a:xfrm>
          <a:prstGeom prst="roundRect">
            <a:avLst>
              <a:gd name="adj" fmla="val 4667"/>
            </a:avLst>
          </a:prstGeom>
          <a:solidFill>
            <a:srgbClr val="F5F4F8"/>
          </a:solidFill>
          <a:ln w="7999">
            <a:solidFill>
              <a:srgbClr val="8B879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779267" y="2915052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31" name="Text 29"/>
          <p:cNvSpPr/>
          <p:nvPr/>
        </p:nvSpPr>
        <p:spPr>
          <a:xfrm>
            <a:off x="11741167" y="2915052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28" dirty="0"/>
          </a:p>
        </p:txBody>
      </p:sp>
      <p:sp>
        <p:nvSpPr>
          <p:cNvPr id="32" name="Text 30"/>
          <p:cNvSpPr/>
          <p:nvPr/>
        </p:nvSpPr>
        <p:spPr>
          <a:xfrm>
            <a:off x="12042000" y="2955425"/>
            <a:ext cx="836651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КОНЕЦ ПРОЦЕССА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11779267" y="3169036"/>
            <a:ext cx="1839712" cy="354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Заявка уходит в общий пул — в работу</a:t>
            </a:r>
            <a:endParaRPr lang="en-US" sz="932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2611" y="4827555"/>
            <a:ext cx="9358775" cy="911317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802336" y="5178032"/>
            <a:ext cx="4679450" cy="645459"/>
          </a:xfrm>
          <a:prstGeom prst="roundRect">
            <a:avLst>
              <a:gd name="adj" fmla="val 12219"/>
            </a:avLst>
          </a:prstGeom>
          <a:solidFill>
            <a:srgbClr val="FCF0F0"/>
          </a:solidFill>
          <a:ln w="7999">
            <a:solidFill>
              <a:srgbClr val="C6373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50452" y="5296024"/>
            <a:ext cx="1652782" cy="1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b="1" dirty="0">
                <a:solidFill>
                  <a:srgbClr val="A548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· ЭСКАЛАЦИЯ РУКОВОДИТЕЛЮ</a:t>
            </a:r>
            <a:endParaRPr lang="en-US" sz="759" dirty="0"/>
          </a:p>
        </p:txBody>
      </p:sp>
      <p:sp>
        <p:nvSpPr>
          <p:cNvPr id="37" name="Text 34"/>
          <p:cNvSpPr/>
          <p:nvPr/>
        </p:nvSpPr>
        <p:spPr>
          <a:xfrm>
            <a:off x="6950452" y="5449515"/>
            <a:ext cx="4514715" cy="334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0"/>
              </a:lnSpc>
              <a:buNone/>
            </a:pPr>
            <a:r>
              <a:rPr lang="en-US" sz="897" dirty="0">
                <a:solidFill>
                  <a:srgbClr val="6B333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Просадка напряжения выходит за рамки объекта — вопрос резерва по пулу. Эскалация идёт человеку; Агент лишь интерфейс.</a:t>
            </a:r>
            <a:endParaRPr lang="en-US" sz="897" dirty="0"/>
          </a:p>
        </p:txBody>
      </p:sp>
      <p:sp>
        <p:nvSpPr>
          <p:cNvPr id="38" name="Shape 35"/>
          <p:cNvSpPr/>
          <p:nvPr/>
        </p:nvSpPr>
        <p:spPr>
          <a:xfrm>
            <a:off x="4462611" y="5876840"/>
            <a:ext cx="9358901" cy="2308602"/>
          </a:xfrm>
          <a:prstGeom prst="roundRect">
            <a:avLst>
              <a:gd name="adj" fmla="val 5314"/>
            </a:avLst>
          </a:prstGeom>
          <a:solidFill>
            <a:srgbClr val="F5F4F8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70611" y="5884839"/>
            <a:ext cx="385475" cy="2300603"/>
          </a:xfrm>
          <a:prstGeom prst="rect">
            <a:avLst/>
          </a:prstGeom>
          <a:solidFill>
            <a:srgbClr val="2C5A7A"/>
          </a:solidFill>
          <a:ln/>
        </p:spPr>
      </p:sp>
      <p:sp>
        <p:nvSpPr>
          <p:cNvPr id="40" name="Text 37"/>
          <p:cNvSpPr/>
          <p:nvPr/>
        </p:nvSpPr>
        <p:spPr>
          <a:xfrm rot="10800000">
            <a:off x="4603352" y="5884839"/>
            <a:ext cx="196192" cy="2330703"/>
          </a:xfrm>
          <a:prstGeom prst="rect">
            <a:avLst/>
          </a:prstGeom>
          <a:noFill/>
          <a:ln/>
        </p:spPr>
        <p:txBody>
          <a:bodyPr vert="eaVert"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kern="0" spc="7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ПУЛ 2 · РУКОВОДИТЕЛЬ — 14 ОБЪЕКТОВ</a:t>
            </a:r>
            <a:endParaRPr lang="en-US" sz="759" dirty="0"/>
          </a:p>
        </p:txBody>
      </p:sp>
      <p:sp>
        <p:nvSpPr>
          <p:cNvPr id="41" name="Shape 38"/>
          <p:cNvSpPr/>
          <p:nvPr/>
        </p:nvSpPr>
        <p:spPr>
          <a:xfrm>
            <a:off x="4996201" y="6024955"/>
            <a:ext cx="1905628" cy="2012371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26818" y="6138073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43" name="Text 40"/>
          <p:cNvSpPr/>
          <p:nvPr/>
        </p:nvSpPr>
        <p:spPr>
          <a:xfrm>
            <a:off x="5088718" y="613807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828" dirty="0"/>
          </a:p>
        </p:txBody>
      </p:sp>
      <p:sp>
        <p:nvSpPr>
          <p:cNvPr id="44" name="Text 41"/>
          <p:cNvSpPr/>
          <p:nvPr/>
        </p:nvSpPr>
        <p:spPr>
          <a:xfrm>
            <a:off x="5389552" y="6178445"/>
            <a:ext cx="1216752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 · ВОПРОС</a:t>
            </a:r>
            <a:endParaRPr lang="en-US" sz="690" dirty="0"/>
          </a:p>
        </p:txBody>
      </p:sp>
      <p:sp>
        <p:nvSpPr>
          <p:cNvPr id="45" name="Text 42"/>
          <p:cNvSpPr/>
          <p:nvPr/>
        </p:nvSpPr>
        <p:spPr>
          <a:xfrm>
            <a:off x="5126818" y="6392057"/>
            <a:ext cx="1720595" cy="513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Спрашивает Агента: «где сейчас проблемы?» — вместо обзвона диспетчеров</a:t>
            </a:r>
            <a:endParaRPr lang="en-US" sz="932" dirty="0"/>
          </a:p>
        </p:txBody>
      </p:sp>
      <p:sp>
        <p:nvSpPr>
          <p:cNvPr id="46" name="Text 43"/>
          <p:cNvSpPr/>
          <p:nvPr/>
        </p:nvSpPr>
        <p:spPr>
          <a:xfrm>
            <a:off x="6863729" y="6024955"/>
            <a:ext cx="268938" cy="205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47" name="Shape 44"/>
          <p:cNvSpPr/>
          <p:nvPr/>
        </p:nvSpPr>
        <p:spPr>
          <a:xfrm>
            <a:off x="7094567" y="6024955"/>
            <a:ext cx="2381972" cy="2012371"/>
          </a:xfrm>
          <a:prstGeom prst="roundRect">
            <a:avLst>
              <a:gd name="adj" fmla="val 4355"/>
            </a:avLst>
          </a:prstGeom>
          <a:solidFill>
            <a:srgbClr val="F0F7FC"/>
          </a:solidFill>
          <a:ln w="7999">
            <a:solidFill>
              <a:srgbClr val="7BA7C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225183" y="6138073"/>
            <a:ext cx="192738" cy="192738"/>
          </a:xfrm>
          <a:prstGeom prst="ellipse">
            <a:avLst/>
          </a:prstGeom>
          <a:solidFill>
            <a:srgbClr val="2C5A7A"/>
          </a:solidFill>
          <a:ln/>
        </p:spPr>
      </p:sp>
      <p:sp>
        <p:nvSpPr>
          <p:cNvPr id="49" name="Text 46"/>
          <p:cNvSpPr/>
          <p:nvPr/>
        </p:nvSpPr>
        <p:spPr>
          <a:xfrm>
            <a:off x="7187083" y="613807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828" dirty="0"/>
          </a:p>
        </p:txBody>
      </p:sp>
      <p:sp>
        <p:nvSpPr>
          <p:cNvPr id="50" name="Text 47"/>
          <p:cNvSpPr/>
          <p:nvPr/>
        </p:nvSpPr>
        <p:spPr>
          <a:xfrm>
            <a:off x="7487917" y="6178445"/>
            <a:ext cx="1053887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4E76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АГЕНТ РУКОВОДИТЕЛЯ</a:t>
            </a:r>
            <a:endParaRPr lang="en-US" sz="690" dirty="0"/>
          </a:p>
        </p:txBody>
      </p:sp>
      <p:sp>
        <p:nvSpPr>
          <p:cNvPr id="51" name="Text 48"/>
          <p:cNvSpPr/>
          <p:nvPr/>
        </p:nvSpPr>
        <p:spPr>
          <a:xfrm>
            <a:off x="7225183" y="6392057"/>
            <a:ext cx="2196940" cy="82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dirty="0">
                <a:solidFill>
                  <a:srgbClr val="1F42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Сводка по 14 объектам: объект 3 на одном вводе из двух · лифт корпуса 3 на контроле · датчик протечки на объекте 7 без реакции + аудит исполнения рекомендаций</a:t>
            </a:r>
            <a:endParaRPr lang="en-US" sz="932" dirty="0"/>
          </a:p>
        </p:txBody>
      </p:sp>
      <p:sp>
        <p:nvSpPr>
          <p:cNvPr id="52" name="Text 49"/>
          <p:cNvSpPr/>
          <p:nvPr/>
        </p:nvSpPr>
        <p:spPr>
          <a:xfrm>
            <a:off x="9438439" y="6024955"/>
            <a:ext cx="268938" cy="205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4E769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53" name="Shape 50"/>
          <p:cNvSpPr/>
          <p:nvPr/>
        </p:nvSpPr>
        <p:spPr>
          <a:xfrm>
            <a:off x="9669277" y="6024955"/>
            <a:ext cx="1905629" cy="2012371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7999">
            <a:solidFill>
              <a:srgbClr val="C9C5D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799895" y="6138073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55" name="Text 52"/>
          <p:cNvSpPr/>
          <p:nvPr/>
        </p:nvSpPr>
        <p:spPr>
          <a:xfrm>
            <a:off x="9761795" y="613807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828" dirty="0"/>
          </a:p>
        </p:txBody>
      </p:sp>
      <p:sp>
        <p:nvSpPr>
          <p:cNvPr id="56" name="Text 53"/>
          <p:cNvSpPr/>
          <p:nvPr/>
        </p:nvSpPr>
        <p:spPr>
          <a:xfrm>
            <a:off x="10062628" y="6178445"/>
            <a:ext cx="1433896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РУКОВОДИТЕЛЬ · ПРИОРИТЕТ</a:t>
            </a:r>
            <a:endParaRPr lang="en-US" sz="690" dirty="0"/>
          </a:p>
        </p:txBody>
      </p:sp>
      <p:sp>
        <p:nvSpPr>
          <p:cNvPr id="57" name="Text 54"/>
          <p:cNvSpPr/>
          <p:nvPr/>
        </p:nvSpPr>
        <p:spPr>
          <a:xfrm>
            <a:off x="9799895" y="6392057"/>
            <a:ext cx="1720594" cy="35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Приоритизирует: резерв питания объекта 3 — первым</a:t>
            </a:r>
            <a:endParaRPr lang="en-US" sz="932" dirty="0"/>
          </a:p>
        </p:txBody>
      </p:sp>
      <p:sp>
        <p:nvSpPr>
          <p:cNvPr id="58" name="Text 55"/>
          <p:cNvSpPr/>
          <p:nvPr/>
        </p:nvSpPr>
        <p:spPr>
          <a:xfrm>
            <a:off x="11536806" y="6024955"/>
            <a:ext cx="268938" cy="205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42" dirty="0">
                <a:solidFill>
                  <a:srgbClr val="8B879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242" dirty="0"/>
          </a:p>
        </p:txBody>
      </p:sp>
      <p:sp>
        <p:nvSpPr>
          <p:cNvPr id="59" name="Shape 56"/>
          <p:cNvSpPr/>
          <p:nvPr/>
        </p:nvSpPr>
        <p:spPr>
          <a:xfrm>
            <a:off x="11767643" y="6024955"/>
            <a:ext cx="1905627" cy="2012371"/>
          </a:xfrm>
          <a:prstGeom prst="roundRect">
            <a:avLst>
              <a:gd name="adj" fmla="val 4598"/>
            </a:avLst>
          </a:prstGeom>
          <a:solidFill>
            <a:srgbClr val="F5F4F8"/>
          </a:solidFill>
          <a:ln w="7999">
            <a:solidFill>
              <a:srgbClr val="8B879E"/>
            </a:solidFill>
            <a:prstDash val="dash"/>
          </a:ln>
        </p:spPr>
      </p:sp>
      <p:sp>
        <p:nvSpPr>
          <p:cNvPr id="60" name="Shape 57"/>
          <p:cNvSpPr/>
          <p:nvPr/>
        </p:nvSpPr>
        <p:spPr>
          <a:xfrm>
            <a:off x="11898259" y="6138073"/>
            <a:ext cx="192738" cy="192738"/>
          </a:xfrm>
          <a:prstGeom prst="ellipse">
            <a:avLst/>
          </a:prstGeom>
          <a:solidFill>
            <a:srgbClr val="5E5A73"/>
          </a:solidFill>
          <a:ln/>
        </p:spPr>
      </p:sp>
      <p:sp>
        <p:nvSpPr>
          <p:cNvPr id="61" name="Text 58"/>
          <p:cNvSpPr/>
          <p:nvPr/>
        </p:nvSpPr>
        <p:spPr>
          <a:xfrm>
            <a:off x="11860159" y="6138073"/>
            <a:ext cx="268938" cy="23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828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828" dirty="0"/>
          </a:p>
        </p:txBody>
      </p:sp>
      <p:sp>
        <p:nvSpPr>
          <p:cNvPr id="62" name="Text 59"/>
          <p:cNvSpPr/>
          <p:nvPr/>
        </p:nvSpPr>
        <p:spPr>
          <a:xfrm>
            <a:off x="12160993" y="6178445"/>
            <a:ext cx="836651" cy="150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90" kern="0" spc="14" dirty="0">
                <a:solidFill>
                  <a:srgbClr val="8B87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КОНЕЦ ПРОЦЕССА</a:t>
            </a:r>
            <a:endParaRPr lang="en-US" sz="690" dirty="0"/>
          </a:p>
        </p:txBody>
      </p:sp>
      <p:sp>
        <p:nvSpPr>
          <p:cNvPr id="63" name="Text 60"/>
          <p:cNvSpPr/>
          <p:nvPr/>
        </p:nvSpPr>
        <p:spPr>
          <a:xfrm>
            <a:off x="11898259" y="6392057"/>
            <a:ext cx="1720595" cy="513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298"/>
              </a:lnSpc>
              <a:buNone/>
            </a:pPr>
            <a:r>
              <a:rPr lang="en-US" sz="932" b="1" dirty="0">
                <a:solidFill>
                  <a:srgbClr val="232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Работы назначены по приоритету, исполнение — на аудите Агента</a:t>
            </a:r>
            <a:endParaRPr lang="en-US" sz="932" dirty="0"/>
          </a:p>
        </p:txBody>
      </p:sp>
      <p:sp>
        <p:nvSpPr>
          <p:cNvPr id="64" name="Shape 61"/>
          <p:cNvSpPr/>
          <p:nvPr/>
        </p:nvSpPr>
        <p:spPr>
          <a:xfrm>
            <a:off x="8563723" y="8240211"/>
            <a:ext cx="5257789" cy="993436"/>
          </a:xfrm>
          <a:prstGeom prst="roundRect">
            <a:avLst>
              <a:gd name="adj" fmla="val 10585"/>
            </a:avLst>
          </a:prstGeom>
          <a:solidFill>
            <a:srgbClr val="F1F8F4"/>
          </a:solidFill>
          <a:ln w="7999">
            <a:solidFill>
              <a:srgbClr val="3E6B57"/>
            </a:solidFill>
            <a:prstDash val="dash"/>
          </a:ln>
        </p:spPr>
      </p:sp>
      <p:sp>
        <p:nvSpPr>
          <p:cNvPr id="65" name="Text 62"/>
          <p:cNvSpPr/>
          <p:nvPr/>
        </p:nvSpPr>
        <p:spPr>
          <a:xfrm>
            <a:off x="8764460" y="8379577"/>
            <a:ext cx="5341945" cy="15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9" kern="0" spc="68" dirty="0">
                <a:solidFill>
                  <a:srgbClr val="5C8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ЖИТЕЛЬ АНДРЕЙ · БЕНЕФИЦИАР — ВНЕ ПРОЦЕССА</a:t>
            </a:r>
            <a:endParaRPr lang="en-US" sz="759" dirty="0"/>
          </a:p>
        </p:txBody>
      </p:sp>
      <p:sp>
        <p:nvSpPr>
          <p:cNvPr id="66" name="Text 63"/>
          <p:cNvSpPr/>
          <p:nvPr/>
        </p:nvSpPr>
        <p:spPr>
          <a:xfrm>
            <a:off x="8764460" y="8552066"/>
            <a:ext cx="5341945" cy="21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04" b="1" dirty="0">
                <a:solidFill>
                  <a:srgbClr val="2E6B4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 устранена до её появления</a:t>
            </a:r>
            <a:endParaRPr lang="en-US" sz="1104" dirty="0"/>
          </a:p>
        </p:txBody>
      </p:sp>
      <p:sp>
        <p:nvSpPr>
          <p:cNvPr id="67" name="Text 64"/>
          <p:cNvSpPr/>
          <p:nvPr/>
        </p:nvSpPr>
        <p:spPr>
          <a:xfrm>
            <a:off x="8764460" y="8763053"/>
            <a:ext cx="5002003" cy="369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968"/>
              </a:lnSpc>
              <a:buNone/>
            </a:pPr>
            <a:r>
              <a:rPr lang="en-US" sz="966" dirty="0">
                <a:solidFill>
                  <a:srgbClr val="4A746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Лифт работает, напряжение стабильно — жалобы нет. С системой не взаимодействует: эффект получает через работу обоих пулов.</a:t>
            </a:r>
            <a:endParaRPr lang="en-US" sz="96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25180"/>
            <a:ext cx="17602160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Экономика: что считается, что — нет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997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СЧИТАЕТСЯ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142997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8" name="Text 6"/>
          <p:cNvSpPr/>
          <p:nvPr/>
        </p:nvSpPr>
        <p:spPr>
          <a:xfrm>
            <a:off x="1142997" y="2940844"/>
            <a:ext cx="5101532" cy="62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Дельта «аварийный vs плановый» на инцидент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000000" y="2952256"/>
            <a:ext cx="1839244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15–20 тыс ₽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000000" y="3329406"/>
            <a:ext cx="1839244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ФАКТ + БЕНЧМАРК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142997" y="4034660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2" name="Text 10"/>
          <p:cNvSpPr/>
          <p:nvPr/>
        </p:nvSpPr>
        <p:spPr>
          <a:xfrm>
            <a:off x="1142997" y="4546856"/>
            <a:ext cx="5101532" cy="62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Перерасчёт за простой лифта — всему корпусу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848610" y="4558268"/>
            <a:ext cx="1990633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0,15 % / час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848610" y="4935417"/>
            <a:ext cx="1990633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НОРМА ПРАВА · ПП 354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1142997" y="5640671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2997" y="6289271"/>
            <a:ext cx="5341832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Ненайм FTE диспетчера при росте пула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158913" y="6152867"/>
            <a:ext cx="268033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1,1–1,4 млн ₽/год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158913" y="6530017"/>
            <a:ext cx="2680331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БЕНЧМАРК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142997" y="7223858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0" name="Text 18"/>
          <p:cNvSpPr/>
          <p:nvPr/>
        </p:nvSpPr>
        <p:spPr>
          <a:xfrm>
            <a:off x="1142997" y="7736053"/>
            <a:ext cx="5101532" cy="629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Baseline поста мониторинга (Level Watch)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144117" y="7747465"/>
            <a:ext cx="2695126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1,0–1,7 млн ₽/год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144117" y="8124615"/>
            <a:ext cx="2695126" cy="229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125" kern="0" spc="38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БЕНЧМАРК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48715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НЕ СЧИТАЕТСЯ — И ПОЧЕМУ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9448715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5" name="Text 23"/>
          <p:cNvSpPr/>
          <p:nvPr/>
        </p:nvSpPr>
        <p:spPr>
          <a:xfrm>
            <a:off x="9448715" y="3068418"/>
            <a:ext cx="846587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Расчётный центр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448715" y="3483608"/>
            <a:ext cx="846587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Нужна стоимость обработки биллинг-спора — только от Level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448715" y="4519819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28" name="Text 26"/>
          <p:cNvSpPr/>
          <p:nvPr/>
        </p:nvSpPr>
        <p:spPr>
          <a:xfrm>
            <a:off x="9448715" y="5287297"/>
            <a:ext cx="846587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Park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448715" y="5702488"/>
            <a:ext cx="846587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Нужен MAU приложения + юрзаключение по P2P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48715" y="6738563"/>
            <a:ext cx="7696246" cy="9525"/>
          </a:xfrm>
          <a:prstGeom prst="rect">
            <a:avLst/>
          </a:prstGeom>
          <a:solidFill>
            <a:srgbClr val="EEEBE4"/>
          </a:solidFill>
          <a:ln/>
        </p:spPr>
      </p:sp>
      <p:sp>
        <p:nvSpPr>
          <p:cNvPr id="31" name="Text 29"/>
          <p:cNvSpPr/>
          <p:nvPr/>
        </p:nvSpPr>
        <p:spPr>
          <a:xfrm>
            <a:off x="9448715" y="7506041"/>
            <a:ext cx="846587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Level Spaces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448715" y="7921232"/>
            <a:ext cx="8465871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Нужна площадь простаивающих лобби + MAU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2997" y="8845221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2997" y="9370867"/>
            <a:ext cx="685690" cy="57062"/>
          </a:xfrm>
          <a:prstGeom prst="rect">
            <a:avLst/>
          </a:prstGeom>
          <a:solidFill>
            <a:srgbClr val="6D5AE6"/>
          </a:solidFill>
          <a:ln/>
        </p:spPr>
      </p:sp>
      <p:sp>
        <p:nvSpPr>
          <p:cNvPr id="35" name="Text 33"/>
          <p:cNvSpPr/>
          <p:nvPr/>
        </p:nvSpPr>
        <p:spPr>
          <a:xfrm>
            <a:off x="2076226" y="9045208"/>
            <a:ext cx="15520798" cy="746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876"/>
              </a:lnSpc>
              <a:buNone/>
            </a:pPr>
            <a:r>
              <a:rPr lang="en-US" sz="232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Три модуля из шести считаются на бенчмарках, три — нет. </a:t>
            </a:r>
            <a:r>
              <a:rPr lang="en-US" sz="2325" b="1" dirty="0">
                <a:solidFill>
                  <a:srgbClr val="6D5AE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Мы не прячем — показываем, где отказались выдумывать.</a:t>
            </a:r>
            <a:endParaRPr lang="en-US" sz="23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761908"/>
            <a:ext cx="2621150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 INTELLIGENCE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16218254" y="761908"/>
            <a:ext cx="100290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88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12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142997" y="1187152"/>
            <a:ext cx="16001964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5" name="Text 3"/>
          <p:cNvSpPr/>
          <p:nvPr/>
        </p:nvSpPr>
        <p:spPr>
          <a:xfrm>
            <a:off x="1142997" y="1425180"/>
            <a:ext cx="17602160" cy="5820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715"/>
              </a:lnSpc>
              <a:buNone/>
            </a:pPr>
            <a:r>
              <a:rPr lang="en-US" sz="4200" b="1" kern="0" spc="-105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Границы решения и этапы внедрения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2997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8B87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ОСОЗНАННО НЕ ВХОДИТ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142997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8" name="Text 6"/>
          <p:cNvSpPr/>
          <p:nvPr/>
        </p:nvSpPr>
        <p:spPr>
          <a:xfrm>
            <a:off x="1142997" y="3203056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85904" y="3203056"/>
            <a:ext cx="4151188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Боты на клиентском фронте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85904" y="3562815"/>
            <a:ext cx="6308903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«людям нужен человек»: с жителем говорит человек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142997" y="4973866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85904" y="4973866"/>
            <a:ext cx="4507619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Управление противопожаркой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85904" y="5333626"/>
            <a:ext cx="4939222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только мониторинг, обязательные нормы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142997" y="6744677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85904" y="6744677"/>
            <a:ext cx="4811893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Биометрия и распознавание лиц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85904" y="7104436"/>
            <a:ext cx="4811893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152-ФЗ, только событийный контур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142997" y="8515351"/>
            <a:ext cx="309609" cy="323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4265"/>
              </a:lnSpc>
              <a:buNone/>
            </a:pPr>
            <a:r>
              <a:rPr lang="en-US" sz="2250" dirty="0">
                <a:solidFill>
                  <a:srgbClr val="B0453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✕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85904" y="8515351"/>
            <a:ext cx="4170317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Строительство пространств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585904" y="8875111"/>
            <a:ext cx="5469310" cy="307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задача застройщика, мы даём цифровой слой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448715" y="2254883"/>
            <a:ext cx="8465871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13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ЭТАПНОСТЬ ВНЕДРЕНИЯ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448715" y="2622930"/>
            <a:ext cx="7696246" cy="9525"/>
          </a:xfrm>
          <a:prstGeom prst="rect">
            <a:avLst/>
          </a:prstGeom>
          <a:solidFill>
            <a:srgbClr val="DDDAD3"/>
          </a:solidFill>
          <a:ln/>
        </p:spPr>
      </p:sp>
      <p:sp>
        <p:nvSpPr>
          <p:cNvPr id="22" name="Shape 20"/>
          <p:cNvSpPr/>
          <p:nvPr/>
        </p:nvSpPr>
        <p:spPr>
          <a:xfrm>
            <a:off x="9448715" y="3198844"/>
            <a:ext cx="7696246" cy="1395563"/>
          </a:xfrm>
          <a:prstGeom prst="roundRect">
            <a:avLst>
              <a:gd name="adj" fmla="val 9555"/>
            </a:avLst>
          </a:prstGeom>
          <a:solidFill>
            <a:srgbClr val="6D5A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53451" y="3711855"/>
            <a:ext cx="921680" cy="369542"/>
          </a:xfrm>
          <a:prstGeom prst="roundRect">
            <a:avLst>
              <a:gd name="adj" fmla="val 2062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05851" y="3788055"/>
            <a:ext cx="693080" cy="255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 0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922669" y="3446382"/>
            <a:ext cx="650931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MVP на существующих данных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922669" y="3842553"/>
            <a:ext cx="6095082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DCD6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Лифтовая телеметрия, заявки Domyland, СКУД — без единого нового датчика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448715" y="5613363"/>
            <a:ext cx="7696246" cy="1412953"/>
          </a:xfrm>
          <a:prstGeom prst="roundRect">
            <a:avLst>
              <a:gd name="adj" fmla="val 943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62146" y="6135069"/>
            <a:ext cx="921680" cy="369542"/>
          </a:xfrm>
          <a:prstGeom prst="roundRect">
            <a:avLst>
              <a:gd name="adj" fmla="val 20620"/>
            </a:avLst>
          </a:prstGeom>
          <a:solidFill>
            <a:srgbClr val="EDE9FB"/>
          </a:solidFill>
          <a:ln/>
        </p:spPr>
      </p:sp>
      <p:sp>
        <p:nvSpPr>
          <p:cNvPr id="29" name="Text 27"/>
          <p:cNvSpPr/>
          <p:nvPr/>
        </p:nvSpPr>
        <p:spPr>
          <a:xfrm>
            <a:off x="9914546" y="6211269"/>
            <a:ext cx="693080" cy="255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 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931365" y="5869597"/>
            <a:ext cx="6490182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Дооснащение датчиками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931365" y="6265767"/>
            <a:ext cx="6077170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Точечно там, где данных не хватает — по мере подтверждения эффекта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9448715" y="8045137"/>
            <a:ext cx="7696246" cy="1160795"/>
          </a:xfrm>
          <a:prstGeom prst="roundRect">
            <a:avLst>
              <a:gd name="adj" fmla="val 11488"/>
            </a:avLst>
          </a:prstGeom>
          <a:solidFill>
            <a:srgbClr val="FFFFFF"/>
          </a:solidFill>
          <a:ln w="8695">
            <a:solidFill>
              <a:srgbClr val="E7E3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62146" y="8440764"/>
            <a:ext cx="921680" cy="369542"/>
          </a:xfrm>
          <a:prstGeom prst="roundRect">
            <a:avLst>
              <a:gd name="adj" fmla="val 20620"/>
            </a:avLst>
          </a:prstGeom>
          <a:solidFill>
            <a:srgbClr val="EDE9FB"/>
          </a:solidFill>
          <a:ln/>
        </p:spPr>
      </p:sp>
      <p:sp>
        <p:nvSpPr>
          <p:cNvPr id="34" name="Text 32"/>
          <p:cNvSpPr/>
          <p:nvPr/>
        </p:nvSpPr>
        <p:spPr>
          <a:xfrm>
            <a:off x="9914546" y="8516964"/>
            <a:ext cx="693080" cy="25524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D5A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Этап 2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931365" y="8301371"/>
            <a:ext cx="6040347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92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Прогноз на накопленной истории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0931365" y="8697541"/>
            <a:ext cx="6040347" cy="290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B697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Модели деградации обучаются на данных этапов 0–1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2096</Words>
  <Application>Microsoft Office PowerPoint</Application>
  <PresentationFormat>Произвольный</PresentationFormat>
  <Paragraphs>308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Golos Text</vt:lpstr>
      <vt:lpstr>IBM Plex Mono</vt:lpstr>
      <vt:lpstr>Space Grotesk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Максим Ластовенко</cp:lastModifiedBy>
  <cp:revision>2</cp:revision>
  <dcterms:created xsi:type="dcterms:W3CDTF">2026-07-16T06:47:36Z</dcterms:created>
  <dcterms:modified xsi:type="dcterms:W3CDTF">2026-07-16T06:50:07Z</dcterms:modified>
</cp:coreProperties>
</file>