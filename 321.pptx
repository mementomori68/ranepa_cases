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представляем «Проводник в страну РЖД» — цифровую экосистему адаптации новых работников на базе ИИ-ассистента Локобот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Через систему адаптации ежегодно проходят 119 тысяч новичков. Их встречают три несвязанных инструмента — и у каждого своё следствие для живого человека на линии.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изучили лидеров рынка и по каждому решили, что берём, а что отвергаем. Общий вывод — зарубежные решения не проходят по 152-ФЗ, поэтому строим на российском стеке.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Проводник — это эволюция, не революция. Не сносим системы, а связываем их одним ИИ-ядром. Три опоры: единая точка входа, доверие через ссылку на источник, персонализация по контексту.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выглядит для человека. Алексей, помощник машиниста. Было: бот не понял, иди спроси инструктора. Стало: точный ответ по регламенту депо и напоминание о курсе. Итог — время, самостоятельность и обучение вовремя.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Целевая архитектура. В центре — LLM-ядро на GigaChat или YandexGPT с RAG. Снизу пять источников данных, сверху три канала доступа. Слева работник получает персональные ответы, справа HR — аналитику. Всё внутри защищённого контура РЖД, on-premise, по 152-ФЗ.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горизонта развития по маршруту. Сначала отвечает, потом ведёт, потом действует. От справочника — к персональному навигатору и далее к единой ИИ-экосистеме пути сотрудника.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Начинаем с малого: помощник машиниста, один полигон, только Локобот 2.0. Это массовая, дефицитная и жёстко регламентированная профессия — идеальна для проверки RAG. Заранее фиксируем критерии стопа и масштабирования.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Экономика простая: пилот обратим и недорог. При масштабе — плюс 242 миллиона в год, ROI около 105% даже в пессимистичном сценарии. На пилоте решение не окупается — и это правильно, пилот проверяет гипотезы.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риски закрыты: галлюцинации — RAG со ссылкой и эскалация; данные — российский контур и 152-ФЗ; деньги — рискуем малым. Просим согласовать пилот: через 90 дней работающий MVP, через год — измеримый ответ, разворачивать ли на всю сеть. Начнём с малого шага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84909"/>
            <a:ext cx="17602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2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ЛОКОБОТ 2.0 · LLM + RAG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43000" y="3789759"/>
            <a:ext cx="114300" cy="20002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4" name="Text 2"/>
          <p:cNvSpPr/>
          <p:nvPr/>
        </p:nvSpPr>
        <p:spPr>
          <a:xfrm>
            <a:off x="1581150" y="3637359"/>
            <a:ext cx="11282363" cy="2240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b="1" spc="-177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Проводник в страну РЖД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1581150" y="6201966"/>
            <a:ext cx="1128236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50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Цифровая экосистема адаптации работников до 2036 года на базе ИИ-ассистента «Локобот 2.0»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143000" y="9391650"/>
            <a:ext cx="31452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Команда · Grand Prix ’26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88036" y="9496425"/>
            <a:ext cx="11717685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8" name="Text 6"/>
          <p:cNvSpPr/>
          <p:nvPr/>
        </p:nvSpPr>
        <p:spPr>
          <a:xfrm>
            <a:off x="16291471" y="9391650"/>
            <a:ext cx="9297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FFFFFF">
                    <a:alpha val="5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 / 10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85725" cy="10477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4924997" cy="1126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потолка текущей системы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517270" y="704850"/>
            <a:ext cx="381823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7200" b="1" spc="-144" kern="0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119 000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60248" y="1622971"/>
            <a:ext cx="357525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новичков в год проходят через эти системы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20345" y="2404021"/>
            <a:ext cx="7047161" cy="4953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8" name="Text 6"/>
          <p:cNvSpPr/>
          <p:nvPr/>
        </p:nvSpPr>
        <p:spPr>
          <a:xfrm>
            <a:off x="5906095" y="2523083"/>
            <a:ext cx="2318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5120" y="2518321"/>
            <a:ext cx="63722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НЕТ ИНТЕГРАЦИИ · системы не обмениваются данными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5250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4421535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0" y="4326285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1175" y="443106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4916835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276350" y="5274915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устаревший NLP · часто не отвечает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276350" y="5703540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7" name="Text 14"/>
          <p:cNvSpPr/>
          <p:nvPr/>
        </p:nvSpPr>
        <p:spPr>
          <a:xfrm>
            <a:off x="1276350" y="5884515"/>
            <a:ext cx="478764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Новичок переспрашивает по-разному или уходит искать ответ у коллег, отвлекая их от работы.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9605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19" name="Text 16"/>
          <p:cNvSpPr/>
          <p:nvPr/>
        </p:nvSpPr>
        <p:spPr>
          <a:xfrm>
            <a:off x="6819900" y="4421535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29950" y="4326285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4725" y="4431060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19900" y="4916835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Модуль «Адаптация»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819900" y="5274915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чек-лист на всех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6819900" y="5703540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25" name="Text 21"/>
          <p:cNvSpPr/>
          <p:nvPr/>
        </p:nvSpPr>
        <p:spPr>
          <a:xfrm>
            <a:off x="6819900" y="5884515"/>
            <a:ext cx="478764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Помощнику машиниста показывают офисные задачи, к его роли отношения не имеющие.</a:t>
            </a:r>
            <a:endParaRPr lang="en-US" sz="1650" dirty="0"/>
          </a:p>
        </p:txBody>
      </p:sp>
      <p:sp>
        <p:nvSpPr>
          <p:cNvPr id="26" name="Shape 22"/>
          <p:cNvSpPr/>
          <p:nvPr/>
        </p:nvSpPr>
        <p:spPr>
          <a:xfrm>
            <a:off x="12039600" y="3127921"/>
            <a:ext cx="5295900" cy="4834979"/>
          </a:xfrm>
          <a:prstGeom prst="roundRect">
            <a:avLst>
              <a:gd name="adj" fmla="val 3152"/>
            </a:avLst>
          </a:prstGeom>
          <a:solidFill>
            <a:srgbClr val="F5F5F9"/>
          </a:solidFill>
          <a:ln/>
        </p:spPr>
      </p:sp>
      <p:sp>
        <p:nvSpPr>
          <p:cNvPr id="27" name="Text 23"/>
          <p:cNvSpPr/>
          <p:nvPr/>
        </p:nvSpPr>
        <p:spPr>
          <a:xfrm>
            <a:off x="12363450" y="4568130"/>
            <a:ext cx="327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16573500" y="4472880"/>
            <a:ext cx="438150" cy="4381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78275" y="4577655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2363450" y="5063430"/>
            <a:ext cx="51130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СДО + КУ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12363450" y="5421511"/>
            <a:ext cx="51130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общие курсы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12363450" y="5850136"/>
            <a:ext cx="46482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33" name="Text 28"/>
          <p:cNvSpPr/>
          <p:nvPr/>
        </p:nvSpPr>
        <p:spPr>
          <a:xfrm>
            <a:off x="12363450" y="6031111"/>
            <a:ext cx="478764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Курсы не привязаны к профессии и этапу адаптации работника.</a:t>
            </a:r>
            <a:endParaRPr lang="en-US" sz="16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7750" y="8096250"/>
            <a:ext cx="8572500" cy="62865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971455" y="8743950"/>
            <a:ext cx="419100" cy="4191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6705" y="8839200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523905" y="8820150"/>
            <a:ext cx="85719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Работник заходит в каждую систему отдельно — единого контекста нет.</a:t>
            </a:r>
            <a:endParaRPr lang="en-US" sz="1725" dirty="0"/>
          </a:p>
        </p:txBody>
      </p:sp>
      <p:sp>
        <p:nvSpPr>
          <p:cNvPr id="38" name="Text 3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9" name="Shape 3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11"/>
            <a:tile tx="0" ty="0" sx="100000" sy="100000" flip="none" algn="tl"/>
          </a:blipFill>
          <a:ln/>
        </p:spPr>
      </p:sp>
      <p:sp>
        <p:nvSpPr>
          <p:cNvPr id="40" name="Text 3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 / 10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92208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БЕНЧМАРК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9220855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Взяли лучшее, отсекли лишнее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953667"/>
            <a:ext cx="5270450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2306092"/>
            <a:ext cx="50640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ЯДРО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85875" y="2610892"/>
            <a:ext cx="50640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Сбер · Яндекс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85875" y="4126855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6838" y="4207818"/>
            <a:ext cx="200025" cy="2000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1175" y="4126855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российское LLM-ядро с ответом со ссылкой на источник.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285875" y="4942136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6363" y="5032623"/>
            <a:ext cx="180975" cy="1809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1175" y="494213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привязку к чужой экосистеме.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1285875" y="5757416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6363" y="5847904"/>
            <a:ext cx="180975" cy="1809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1175" y="5757416"/>
            <a:ext cx="423165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дообучаем на регламентах и оргструктуре РЖД, связываем с этапом адаптации.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508700" y="1953667"/>
            <a:ext cx="5270599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42075" y="2306092"/>
            <a:ext cx="50642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МЕТОДОЛОГИЯ</a:t>
            </a:r>
            <a:endParaRPr lang="en-US" sz="1275" dirty="0"/>
          </a:p>
        </p:txBody>
      </p:sp>
      <p:sp>
        <p:nvSpPr>
          <p:cNvPr id="19" name="Text 14"/>
          <p:cNvSpPr/>
          <p:nvPr/>
        </p:nvSpPr>
        <p:spPr>
          <a:xfrm>
            <a:off x="6842075" y="2610892"/>
            <a:ext cx="50642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Talmundo</a:t>
            </a: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6842075" y="4239220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3038" y="4320183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7375" y="4239220"/>
            <a:ext cx="423180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персональные сценарии адаптации по роли.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6842075" y="5054501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32563" y="5144988"/>
            <a:ext cx="180975" cy="1809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37375" y="5054501"/>
            <a:ext cx="30218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зарубежное ПО.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6842075" y="5645051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32563" y="5735538"/>
            <a:ext cx="180975" cy="1809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37375" y="5645051"/>
            <a:ext cx="4231806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переносим логику сценариев в модуль «Адаптация» вместо единого чек-листа.</a:t>
            </a:r>
            <a:endParaRPr lang="en-US" sz="1650" dirty="0"/>
          </a:p>
        </p:txBody>
      </p:sp>
      <p:sp>
        <p:nvSpPr>
          <p:cNvPr id="29" name="Shape 21"/>
          <p:cNvSpPr/>
          <p:nvPr/>
        </p:nvSpPr>
        <p:spPr>
          <a:xfrm>
            <a:off x="12065050" y="1953667"/>
            <a:ext cx="5270450" cy="5894933"/>
          </a:xfrm>
          <a:prstGeom prst="roundRect">
            <a:avLst>
              <a:gd name="adj" fmla="val 2892"/>
            </a:avLst>
          </a:prstGeom>
          <a:ln w="9525">
            <a:solidFill>
              <a:srgbClr val="E4E7EE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2398425" y="2306092"/>
            <a:ext cx="50640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АНАЛИТИКА</a:t>
            </a:r>
            <a:endParaRPr lang="en-US" sz="1275" dirty="0"/>
          </a:p>
        </p:txBody>
      </p:sp>
      <p:sp>
        <p:nvSpPr>
          <p:cNvPr id="31" name="Text 23"/>
          <p:cNvSpPr/>
          <p:nvPr/>
        </p:nvSpPr>
        <p:spPr>
          <a:xfrm>
            <a:off x="12398425" y="2610892"/>
            <a:ext cx="50640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Microsoft Viva</a:t>
            </a:r>
            <a:endParaRPr lang="en-US" sz="2700" dirty="0"/>
          </a:p>
        </p:txBody>
      </p:sp>
      <p:sp>
        <p:nvSpPr>
          <p:cNvPr id="32" name="Shape 24"/>
          <p:cNvSpPr/>
          <p:nvPr/>
        </p:nvSpPr>
        <p:spPr>
          <a:xfrm>
            <a:off x="12398425" y="4385816"/>
            <a:ext cx="361950" cy="36195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479387" y="4466779"/>
            <a:ext cx="200025" cy="2000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893725" y="438581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Берём: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подход к HR-аналитике и дашбордам.</a:t>
            </a:r>
            <a:endParaRPr lang="en-US" sz="1650" dirty="0"/>
          </a:p>
        </p:txBody>
      </p:sp>
      <p:sp>
        <p:nvSpPr>
          <p:cNvPr id="35" name="Shape 26"/>
          <p:cNvSpPr/>
          <p:nvPr/>
        </p:nvSpPr>
        <p:spPr>
          <a:xfrm>
            <a:off x="12398425" y="5201096"/>
            <a:ext cx="361950" cy="361950"/>
          </a:xfrm>
          <a:prstGeom prst="ellipse">
            <a:avLst/>
          </a:prstGeom>
          <a:solidFill>
            <a:srgbClr val="EEF0F5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488912" y="5291584"/>
            <a:ext cx="180975" cy="18097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2893725" y="5201096"/>
            <a:ext cx="40201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Отвергаем: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облако вне контура РЖД.</a:t>
            </a:r>
            <a:endParaRPr lang="en-US" sz="1650" dirty="0"/>
          </a:p>
        </p:txBody>
      </p:sp>
      <p:sp>
        <p:nvSpPr>
          <p:cNvPr id="38" name="Shape 28"/>
          <p:cNvSpPr/>
          <p:nvPr/>
        </p:nvSpPr>
        <p:spPr>
          <a:xfrm>
            <a:off x="12398425" y="5791646"/>
            <a:ext cx="361950" cy="36195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488912" y="5882134"/>
            <a:ext cx="180975" cy="18097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2893725" y="5791646"/>
            <a:ext cx="4231652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Адаптируем: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воспроизводим HR-аналитику внутри контура РЖД.</a:t>
            </a:r>
            <a:endParaRPr lang="en-US" sz="1650" dirty="0"/>
          </a:p>
        </p:txBody>
      </p:sp>
      <p:sp>
        <p:nvSpPr>
          <p:cNvPr id="41" name="Shape 30"/>
          <p:cNvSpPr/>
          <p:nvPr/>
        </p:nvSpPr>
        <p:spPr>
          <a:xfrm>
            <a:off x="952500" y="8134350"/>
            <a:ext cx="16383000" cy="1028700"/>
          </a:xfrm>
          <a:prstGeom prst="roundRect">
            <a:avLst>
              <a:gd name="adj" fmla="val 14815"/>
            </a:avLst>
          </a:prstGeom>
          <a:solidFill>
            <a:srgbClr val="16213E"/>
          </a:solidFill>
          <a:ln/>
        </p:spPr>
      </p:sp>
      <p:sp>
        <p:nvSpPr>
          <p:cNvPr id="42" name="Shape 31"/>
          <p:cNvSpPr/>
          <p:nvPr/>
        </p:nvSpPr>
        <p:spPr>
          <a:xfrm>
            <a:off x="1314450" y="8401050"/>
            <a:ext cx="76200" cy="495300"/>
          </a:xfrm>
          <a:prstGeom prst="roundRect">
            <a:avLst>
              <a:gd name="adj" fmla="val 37500"/>
            </a:avLst>
          </a:prstGeom>
          <a:solidFill>
            <a:srgbClr val="E21A1A"/>
          </a:solidFill>
          <a:ln/>
        </p:spPr>
      </p:sp>
      <p:sp>
        <p:nvSpPr>
          <p:cNvPr id="43" name="Text 32"/>
          <p:cNvSpPr/>
          <p:nvPr/>
        </p:nvSpPr>
        <p:spPr>
          <a:xfrm>
            <a:off x="1600200" y="8469213"/>
            <a:ext cx="1280088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Зарубежные решения не проходят по </a:t>
            </a:r>
            <a:pPr algn="l" indent="0" marL="0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152-ФЗ </a:t>
            </a:r>
            <a:pPr algn="l" indent="0" marL="0">
              <a:lnSpc>
                <a:spcPct val="130000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строим только на российском стеке.</a:t>
            </a:r>
            <a:endParaRPr lang="en-US" sz="2175" dirty="0"/>
          </a:p>
        </p:txBody>
      </p:sp>
      <p:sp>
        <p:nvSpPr>
          <p:cNvPr id="44" name="Text 33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45" name="Shape 34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19"/>
            <a:tile tx="0" ty="0" sx="100000" sy="100000" flip="none" algn="tl"/>
          </a:blipFill>
          <a:ln/>
        </p:spPr>
      </p:sp>
      <p:sp>
        <p:nvSpPr>
          <p:cNvPr id="46" name="Text 35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 / 10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291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291798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Проводник — эволюция, не революция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896517"/>
            <a:ext cx="5270450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3527822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8275" y="3670697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38350" y="3565922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01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295400" y="4346972"/>
            <a:ext cx="504311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Единая точка входа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95400" y="4830812"/>
            <a:ext cx="472219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 2.0 на LLM+RAG становится единой точкой входа и связывает Локобот, модуль «Адаптация» и СДО между собой.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6508700" y="1896517"/>
            <a:ext cx="5270599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851600" y="3527822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475" y="3670697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94550" y="3565922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02</a:t>
            </a:r>
            <a:endParaRPr lang="en-US" sz="3900" dirty="0"/>
          </a:p>
        </p:txBody>
      </p:sp>
      <p:sp>
        <p:nvSpPr>
          <p:cNvPr id="15" name="Text 11"/>
          <p:cNvSpPr/>
          <p:nvPr/>
        </p:nvSpPr>
        <p:spPr>
          <a:xfrm>
            <a:off x="6851600" y="4346972"/>
            <a:ext cx="5043279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Ответ, которому доверяют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851600" y="4830812"/>
            <a:ext cx="4722343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Каждый ответ подкреплён ссылкой на регламент или документ — работник видит первоисточник и доверяет системе.</a:t>
            </a:r>
            <a:endParaRPr lang="en-US" sz="1725" dirty="0"/>
          </a:p>
        </p:txBody>
      </p:sp>
      <p:sp>
        <p:nvSpPr>
          <p:cNvPr id="17" name="Shape 13"/>
          <p:cNvSpPr/>
          <p:nvPr/>
        </p:nvSpPr>
        <p:spPr>
          <a:xfrm>
            <a:off x="12065050" y="1896517"/>
            <a:ext cx="5270450" cy="5835997"/>
          </a:xfrm>
          <a:prstGeom prst="roundRect">
            <a:avLst>
              <a:gd name="adj" fmla="val 3253"/>
            </a:avLst>
          </a:prstGeom>
          <a:solidFill>
            <a:srgbClr val="F5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12407950" y="3686621"/>
            <a:ext cx="571500" cy="5715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50825" y="3829496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150900" y="3724721"/>
            <a:ext cx="6706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03</a:t>
            </a:r>
            <a:endParaRPr lang="en-US" sz="3900" dirty="0"/>
          </a:p>
        </p:txBody>
      </p:sp>
      <p:sp>
        <p:nvSpPr>
          <p:cNvPr id="21" name="Text 16"/>
          <p:cNvSpPr/>
          <p:nvPr/>
        </p:nvSpPr>
        <p:spPr>
          <a:xfrm>
            <a:off x="12407950" y="4505771"/>
            <a:ext cx="504311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Знает контекст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2407950" y="4989612"/>
            <a:ext cx="4722190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Система учитывает профессию, полигон и этап адаптации, поэтому ответы и подсказки персональны.</a:t>
            </a:r>
            <a:endParaRPr lang="en-US" sz="1725" dirty="0"/>
          </a:p>
        </p:txBody>
      </p:sp>
      <p:sp>
        <p:nvSpPr>
          <p:cNvPr id="23" name="Shape 18"/>
          <p:cNvSpPr/>
          <p:nvPr/>
        </p:nvSpPr>
        <p:spPr>
          <a:xfrm>
            <a:off x="952500" y="7999214"/>
            <a:ext cx="16383000" cy="1163836"/>
          </a:xfrm>
          <a:prstGeom prst="roundRect">
            <a:avLst>
              <a:gd name="adj" fmla="val 13095"/>
            </a:avLst>
          </a:prstGeom>
          <a:solidFill>
            <a:srgbClr val="16213E"/>
          </a:solidFill>
          <a:ln/>
        </p:spPr>
      </p:sp>
      <p:sp>
        <p:nvSpPr>
          <p:cNvPr id="24" name="Shape 19"/>
          <p:cNvSpPr/>
          <p:nvPr/>
        </p:nvSpPr>
        <p:spPr>
          <a:xfrm>
            <a:off x="1314450" y="8333482"/>
            <a:ext cx="76200" cy="495300"/>
          </a:xfrm>
          <a:prstGeom prst="roundRect">
            <a:avLst>
              <a:gd name="adj" fmla="val 37500"/>
            </a:avLst>
          </a:prstGeom>
          <a:solidFill>
            <a:srgbClr val="E21A1A"/>
          </a:solidFill>
          <a:ln/>
        </p:spPr>
      </p:sp>
      <p:sp>
        <p:nvSpPr>
          <p:cNvPr id="25" name="Text 20"/>
          <p:cNvSpPr/>
          <p:nvPr/>
        </p:nvSpPr>
        <p:spPr>
          <a:xfrm>
            <a:off x="1600200" y="8246864"/>
            <a:ext cx="1583455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Мы не заменяем существующие системы, а </a:t>
            </a:r>
            <a:pPr algn="l" indent="0" marL="0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связываем и усиливаем </a:t>
            </a:r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их единым ИИ-ядром — это дешевле и вызывает меньше сопротивления.</a:t>
            </a:r>
            <a:endParaRPr lang="en-US" sz="2025" dirty="0"/>
          </a:p>
        </p:txBody>
      </p:sp>
      <p:sp>
        <p:nvSpPr>
          <p:cNvPr id="26" name="Text 2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/>
        </p:spPr>
      </p:sp>
      <p:sp>
        <p:nvSpPr>
          <p:cNvPr id="28" name="Text 2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04 / 10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02314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ПОЛЬЗОВАТЕЛЬСКИЙ СЦЕНАРИЙ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023149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День помощника машиниста Алексея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896517"/>
            <a:ext cx="8048625" cy="6066383"/>
          </a:xfrm>
          <a:prstGeom prst="roundRect">
            <a:avLst>
              <a:gd name="adj" fmla="val 2826"/>
            </a:avLst>
          </a:prstGeom>
          <a:solidFill>
            <a:srgbClr val="F5F5F9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239417"/>
            <a:ext cx="80152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БЫЛО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733973" y="2706142"/>
            <a:ext cx="5886152" cy="571500"/>
          </a:xfrm>
          <a:prstGeom prst="roundRect">
            <a:avLst>
              <a:gd name="adj" fmla="val 30000"/>
            </a:avLst>
          </a:prstGeom>
          <a:solidFill>
            <a:srgbClr val="E1E4EC"/>
          </a:solidFill>
          <a:ln/>
        </p:spPr>
      </p:sp>
      <p:sp>
        <p:nvSpPr>
          <p:cNvPr id="8" name="Text 6"/>
          <p:cNvSpPr/>
          <p:nvPr/>
        </p:nvSpPr>
        <p:spPr>
          <a:xfrm>
            <a:off x="2943523" y="2858542"/>
            <a:ext cx="56436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Какой порядок приёмки локомотива в моём депо?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333500" y="3430042"/>
            <a:ext cx="4260056" cy="5905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E1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3591967"/>
            <a:ext cx="39497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93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 понял вопрос. Уточните запрос.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4335363" y="4172992"/>
            <a:ext cx="4284762" cy="571500"/>
          </a:xfrm>
          <a:prstGeom prst="roundRect">
            <a:avLst>
              <a:gd name="adj" fmla="val 30000"/>
            </a:avLst>
          </a:prstGeom>
          <a:solidFill>
            <a:srgbClr val="E1E4EC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913" y="4325392"/>
            <a:ext cx="39942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Приёмка локомотива, депо ТЧЭ-12?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333500" y="4896892"/>
            <a:ext cx="3358455" cy="590550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9525">
            <a:solidFill>
              <a:srgbClr val="E1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2575" y="5058817"/>
            <a:ext cx="3021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93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Обратитесь к инструктору.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33500" y="7324279"/>
            <a:ext cx="750522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↳ Алексей теряет время и идёт искать наставника.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286875" y="1896517"/>
            <a:ext cx="8048625" cy="6066383"/>
          </a:xfrm>
          <a:prstGeom prst="roundRect">
            <a:avLst>
              <a:gd name="adj" fmla="val 2826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9667875" y="2239417"/>
            <a:ext cx="80152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СТАЛО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1068348" y="2706142"/>
            <a:ext cx="5886152" cy="571500"/>
          </a:xfrm>
          <a:prstGeom prst="roundRect">
            <a:avLst>
              <a:gd name="adj" fmla="val 30000"/>
            </a:avLst>
          </a:prstGeom>
          <a:solidFill>
            <a:srgbClr val="2A3752"/>
          </a:solidFill>
          <a:ln/>
        </p:spPr>
      </p:sp>
      <p:sp>
        <p:nvSpPr>
          <p:cNvPr id="19" name="Text 17"/>
          <p:cNvSpPr/>
          <p:nvPr/>
        </p:nvSpPr>
        <p:spPr>
          <a:xfrm>
            <a:off x="11277898" y="2858542"/>
            <a:ext cx="56436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Какой порядок приёмки локомотива в моём депо?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9667875" y="3430042"/>
            <a:ext cx="6977063" cy="874216"/>
          </a:xfrm>
          <a:prstGeom prst="roundRect">
            <a:avLst>
              <a:gd name="adj" fmla="val 19612"/>
            </a:avLst>
          </a:prstGeom>
          <a:solidFill>
            <a:srgbClr val="E2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877425" y="3582442"/>
            <a:ext cx="6767274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FFFFFF"/>
                </a:solidFill>
                <a:highlight>
                  <a:srgbClr val="E21A1A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Порядок — по регламенту вашего депо.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↗ Инструкция ТЧЭ-12, п. 4.2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667875" y="4456658"/>
            <a:ext cx="6977063" cy="874216"/>
          </a:xfrm>
          <a:prstGeom prst="roundRect">
            <a:avLst>
              <a:gd name="adj" fmla="val 19612"/>
            </a:avLst>
          </a:prstGeom>
          <a:solidFill>
            <a:srgbClr val="2A3752"/>
          </a:solidFill>
          <a:ln/>
        </p:spPr>
      </p:sp>
      <p:sp>
        <p:nvSpPr>
          <p:cNvPr id="23" name="Text 21"/>
          <p:cNvSpPr/>
          <p:nvPr/>
        </p:nvSpPr>
        <p:spPr>
          <a:xfrm>
            <a:off x="9877425" y="4609058"/>
            <a:ext cx="6767274" cy="607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FFFFFF"/>
                </a:solidFill>
                <a:highlight>
                  <a:srgbClr val="2A3752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 сразу: сегодня дедлайн по курсу «Охрана труда» — 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↗ вот ссылка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9667875" y="7324279"/>
            <a:ext cx="7505224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↳ Точный ответ за секунды — и напоминание вовремя.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52500" y="8210550"/>
            <a:ext cx="16383000" cy="9525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76350" y="8439150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0650" y="8553450"/>
            <a:ext cx="26670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962150" y="8525768"/>
            <a:ext cx="1472710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Результат: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новичок получает точный ответ за секунды, не отвлекает инструктора и не пропускает обучение.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</p:spPr>
      </p:sp>
      <p:sp>
        <p:nvSpPr>
          <p:cNvPr id="31" name="Text 28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05 / 10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8580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609600"/>
            <a:ext cx="105868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АРХИТЕКТУРА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933450"/>
            <a:ext cx="10586859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Единая платформа вокруг LLM-ядра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29817"/>
            <a:ext cx="16383000" cy="7124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57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2175" y="1844129"/>
            <a:ext cx="247650" cy="2476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7381" y="2148929"/>
            <a:ext cx="833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Портал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905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0175" y="1715542"/>
            <a:ext cx="247650" cy="247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05750" y="2020342"/>
            <a:ext cx="2552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Мобильное приложение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10953750" y="1686967"/>
            <a:ext cx="2476500" cy="876300"/>
          </a:xfrm>
          <a:prstGeom prst="roundRect">
            <a:avLst>
              <a:gd name="adj" fmla="val 15217"/>
            </a:avLst>
          </a:prstGeom>
          <a:solidFill>
            <a:srgbClr val="16213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8175" y="1844129"/>
            <a:ext cx="247650" cy="2476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96576" y="2148929"/>
            <a:ext cx="6670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Голос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6667500" y="4487317"/>
            <a:ext cx="4953000" cy="1428750"/>
          </a:xfrm>
          <a:prstGeom prst="roundRect">
            <a:avLst>
              <a:gd name="adj" fmla="val 12000"/>
            </a:avLst>
          </a:prstGeom>
          <a:solidFill>
            <a:srgbClr val="E21A1A"/>
          </a:solidFill>
          <a:ln/>
          <a:effectLst>
            <a:outerShdw sx="100000" sy="100000" kx="0" ky="0" algn="bl" rotWithShape="0" blurRad="381000" dist="133350" dir="5400000">
              <a:srgbClr val="E21A1A">
                <a:alpha val="28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019477" y="4673054"/>
            <a:ext cx="224889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LLM-ядро</a:t>
            </a:r>
            <a:endParaRPr lang="en-US" sz="3300" dirty="0"/>
          </a:p>
        </p:txBody>
      </p:sp>
      <p:sp>
        <p:nvSpPr>
          <p:cNvPr id="17" name="Text 11"/>
          <p:cNvSpPr/>
          <p:nvPr/>
        </p:nvSpPr>
        <p:spPr>
          <a:xfrm>
            <a:off x="7290465" y="5168354"/>
            <a:ext cx="3707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GigaChat / YandexGPT + RAG</a:t>
            </a:r>
            <a:endParaRPr lang="en-US" sz="1875" dirty="0"/>
          </a:p>
        </p:txBody>
      </p:sp>
      <p:sp>
        <p:nvSpPr>
          <p:cNvPr id="18" name="Text 12"/>
          <p:cNvSpPr/>
          <p:nvPr/>
        </p:nvSpPr>
        <p:spPr>
          <a:xfrm>
            <a:off x="7378214" y="5520779"/>
            <a:ext cx="35315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персональный контекст · знания РЖД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1476375" y="4506367"/>
            <a:ext cx="723900" cy="7239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7825" y="4677817"/>
            <a:ext cx="381000" cy="381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18022" y="5325517"/>
            <a:ext cx="11168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Работник</a:t>
            </a:r>
            <a:endParaRPr lang="en-US" sz="1725" dirty="0"/>
          </a:p>
        </p:txBody>
      </p:sp>
      <p:sp>
        <p:nvSpPr>
          <p:cNvPr id="22" name="Shape 15"/>
          <p:cNvSpPr/>
          <p:nvPr/>
        </p:nvSpPr>
        <p:spPr>
          <a:xfrm>
            <a:off x="3048000" y="4811167"/>
            <a:ext cx="2184797" cy="34290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23" name="Text 16"/>
          <p:cNvSpPr/>
          <p:nvPr/>
        </p:nvSpPr>
        <p:spPr>
          <a:xfrm>
            <a:off x="3200400" y="4877842"/>
            <a:ext cx="19561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персональные ответы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16087725" y="4506367"/>
            <a:ext cx="723900" cy="7239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259175" y="4677817"/>
            <a:ext cx="381000" cy="381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601950" y="5325517"/>
            <a:ext cx="16954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HR / руководитель</a:t>
            </a:r>
            <a:endParaRPr lang="en-US" sz="1650" dirty="0"/>
          </a:p>
        </p:txBody>
      </p:sp>
      <p:sp>
        <p:nvSpPr>
          <p:cNvPr id="27" name="Shape 19"/>
          <p:cNvSpPr/>
          <p:nvPr/>
        </p:nvSpPr>
        <p:spPr>
          <a:xfrm>
            <a:off x="12630150" y="4811167"/>
            <a:ext cx="2049512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213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2792075" y="4887367"/>
            <a:ext cx="18018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аналитика-дашборд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33350" y="6811417"/>
            <a:ext cx="18021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179" kern="0" dirty="0">
                <a:solidFill>
                  <a:srgbClr val="9AA2B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СЛОЙ ДАННЫХ · 5 ИСТОЧНИКОВ</a:t>
            </a:r>
            <a:endParaRPr lang="en-US" sz="1275" dirty="0"/>
          </a:p>
        </p:txBody>
      </p:sp>
      <p:sp>
        <p:nvSpPr>
          <p:cNvPr id="30" name="Shape 22"/>
          <p:cNvSpPr/>
          <p:nvPr/>
        </p:nvSpPr>
        <p:spPr>
          <a:xfrm>
            <a:off x="3619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38650" y="7406729"/>
            <a:ext cx="285750" cy="2857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937695" y="7806779"/>
            <a:ext cx="14162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HR-профиль</a:t>
            </a:r>
            <a:endParaRPr lang="en-US" sz="1650" dirty="0"/>
          </a:p>
        </p:txBody>
      </p:sp>
      <p:sp>
        <p:nvSpPr>
          <p:cNvPr id="33" name="Shape 24"/>
          <p:cNvSpPr/>
          <p:nvPr/>
        </p:nvSpPr>
        <p:spPr>
          <a:xfrm>
            <a:off x="5905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4650" y="7420124"/>
            <a:ext cx="285750" cy="2857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868568" y="7820174"/>
            <a:ext cx="199776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Прогресс модуля</a:t>
            </a:r>
            <a:endParaRPr lang="en-US" sz="1650" dirty="0"/>
          </a:p>
        </p:txBody>
      </p:sp>
      <p:sp>
        <p:nvSpPr>
          <p:cNvPr id="36" name="Shape 26"/>
          <p:cNvSpPr/>
          <p:nvPr/>
        </p:nvSpPr>
        <p:spPr>
          <a:xfrm>
            <a:off x="8191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010650" y="7406729"/>
            <a:ext cx="285750" cy="28575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639621" y="7806779"/>
            <a:ext cx="11038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Логи бота</a:t>
            </a:r>
            <a:endParaRPr lang="en-US" sz="1650" dirty="0"/>
          </a:p>
        </p:txBody>
      </p:sp>
      <p:sp>
        <p:nvSpPr>
          <p:cNvPr id="39" name="Shape 28"/>
          <p:cNvSpPr/>
          <p:nvPr/>
        </p:nvSpPr>
        <p:spPr>
          <a:xfrm>
            <a:off x="10477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96650" y="7420124"/>
            <a:ext cx="285750" cy="2857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618678" y="7820174"/>
            <a:ext cx="1641693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Пульс-опросы</a:t>
            </a:r>
            <a:endParaRPr lang="en-US" sz="1650" dirty="0"/>
          </a:p>
        </p:txBody>
      </p:sp>
      <p:sp>
        <p:nvSpPr>
          <p:cNvPr id="42" name="Shape 30"/>
          <p:cNvSpPr/>
          <p:nvPr/>
        </p:nvSpPr>
        <p:spPr>
          <a:xfrm>
            <a:off x="12763500" y="7154317"/>
            <a:ext cx="1924050" cy="1162050"/>
          </a:xfrm>
          <a:prstGeom prst="roundRect">
            <a:avLst>
              <a:gd name="adj" fmla="val 11475"/>
            </a:avLst>
          </a:prstGeom>
          <a:solidFill>
            <a:srgbClr val="F5F5F9"/>
          </a:solidFill>
          <a:ln w="9525">
            <a:solidFill>
              <a:srgbClr val="E4E7EE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582650" y="7406729"/>
            <a:ext cx="285750" cy="28575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3497967" y="7806779"/>
            <a:ext cx="5311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СДО</a:t>
            </a:r>
            <a:endParaRPr lang="en-US" sz="1650" dirty="0"/>
          </a:p>
        </p:txBody>
      </p:sp>
      <p:sp>
        <p:nvSpPr>
          <p:cNvPr id="45" name="Shape 32"/>
          <p:cNvSpPr/>
          <p:nvPr/>
        </p:nvSpPr>
        <p:spPr>
          <a:xfrm>
            <a:off x="6221462" y="8183017"/>
            <a:ext cx="5845076" cy="3714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50062" y="8254454"/>
            <a:ext cx="228600" cy="22860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792962" y="8240167"/>
            <a:ext cx="519632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Защищённый контур РЖД · 152-ФЗ · on-premise</a:t>
            </a:r>
            <a:endParaRPr lang="en-US" sz="1650" dirty="0"/>
          </a:p>
        </p:txBody>
      </p:sp>
      <p:sp>
        <p:nvSpPr>
          <p:cNvPr id="48" name="Text 34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49" name="Shape 35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25"/>
            <a:tile tx="0" ty="0" sx="100000" sy="100000" flip="none" algn="tl"/>
          </a:blipFill>
          <a:ln/>
        </p:spPr>
      </p:sp>
      <p:sp>
        <p:nvSpPr>
          <p:cNvPr id="50" name="Text 36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06 / 10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7572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ДОРОЖНАЯ КАРТА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7572941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ответов — к действиям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1782217"/>
            <a:ext cx="117729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Экосистема развивается тремя горизонтами — от справочника к агенту, который действует сам. Каждый этап опирается на предыдущий.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F5F5F9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771305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76350" y="4076105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Отвечает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276350" y="4771430"/>
            <a:ext cx="4748403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 + RAG отвечает со ссылкой, интегрируется с модулем «Адаптация» и сам шлёт автонапоминания.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76350" y="5933777"/>
            <a:ext cx="46101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6152852"/>
            <a:ext cx="4748403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Точный ответ и знание контекста работника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151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F5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838950" y="3771305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8950" y="4076105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Ведёт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838950" y="4771430"/>
            <a:ext cx="4748403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Персонализация и проактивность: голосовой доступ на линии и HR-аналитика по адаптации.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838950" y="5933777"/>
            <a:ext cx="4610100" cy="9525"/>
          </a:xfrm>
          <a:prstGeom prst="rect">
            <a:avLst/>
          </a:prstGeom>
          <a:solidFill>
            <a:srgbClr val="E1E4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38950" y="6152852"/>
            <a:ext cx="4748403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От справочника к персональному навигатору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077700" y="2698403"/>
            <a:ext cx="5257800" cy="5093047"/>
          </a:xfrm>
          <a:prstGeom prst="roundRect">
            <a:avLst>
              <a:gd name="adj" fmla="val 3366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12401550" y="4071491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ГОРИЗОНТ 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401550" y="4376291"/>
            <a:ext cx="50711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Действует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401550" y="5071616"/>
            <a:ext cx="474840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Агентные сценарии, единый цифровой профиль сотрудника и предиктив оттока.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2401550" y="5916364"/>
            <a:ext cx="4610100" cy="9525"/>
          </a:xfrm>
          <a:prstGeom prst="rect">
            <a:avLst/>
          </a:prstGeom>
          <a:solidFill>
            <a:srgbClr val="2E3D5A"/>
          </a:solidFill>
          <a:ln/>
        </p:spPr>
      </p:sp>
      <p:sp>
        <p:nvSpPr>
          <p:cNvPr id="23" name="Text 21"/>
          <p:cNvSpPr/>
          <p:nvPr/>
        </p:nvSpPr>
        <p:spPr>
          <a:xfrm>
            <a:off x="12401550" y="6135439"/>
            <a:ext cx="507111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 Единая ИИ-экосистема пути сотрудника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52500" y="8401050"/>
            <a:ext cx="16383000" cy="5715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8372475"/>
            <a:ext cx="16383000" cy="1143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26" name="Shape 24"/>
          <p:cNvSpPr/>
          <p:nvPr/>
        </p:nvSpPr>
        <p:spPr>
          <a:xfrm>
            <a:off x="3520976" y="8258175"/>
            <a:ext cx="323850" cy="3238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1621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6787" y="8753475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2026–2028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8943975" y="8229600"/>
            <a:ext cx="400050" cy="40005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162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886" y="8801100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2029–2031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4366825" y="8191500"/>
            <a:ext cx="476250" cy="476250"/>
          </a:xfrm>
          <a:prstGeom prst="ellipse">
            <a:avLst/>
          </a:prstGeom>
          <a:solidFill>
            <a:srgbClr val="E21A1A"/>
          </a:solidFill>
          <a:ln w="571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21A1A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028837" y="8839200"/>
            <a:ext cx="1228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63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2032–2036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34" name="Text 32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07 / 10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28390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ПИЛОТ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2839030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Пилот: помощник машиниста, один полигон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2149376"/>
            <a:ext cx="4000500" cy="4000500"/>
          </a:xfrm>
          <a:prstGeom prst="ellipse">
            <a:avLst/>
          </a:prstGeom>
          <a:solidFill>
            <a:srgbClr val="F5F5F9"/>
          </a:solidFill>
          <a:ln w="19050">
            <a:solidFill>
              <a:srgbClr val="C9CFD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36688" y="2473226"/>
            <a:ext cx="2664887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ВОЛНА 2 · СЕТЬ ПОЛИГОНОВ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4975" y="2806601"/>
            <a:ext cx="2686050" cy="2686050"/>
          </a:xfrm>
          <a:prstGeom prst="ellipse">
            <a:avLst/>
          </a:prstGeom>
          <a:solidFill>
            <a:srgbClr val="E8EBF2"/>
          </a:solidFill>
          <a:ln/>
        </p:spPr>
      </p:sp>
      <p:sp>
        <p:nvSpPr>
          <p:cNvPr id="8" name="Text 6"/>
          <p:cNvSpPr/>
          <p:nvPr/>
        </p:nvSpPr>
        <p:spPr>
          <a:xfrm>
            <a:off x="1821359" y="3216176"/>
            <a:ext cx="2698611" cy="21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ВОЛНА 1 · +2–3 ПРОФЕССИИ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4100" y="3425726"/>
            <a:ext cx="1447800" cy="14478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513261" y="3873401"/>
            <a:ext cx="11455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626816" y="4254401"/>
            <a:ext cx="9185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Локобот 2.0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89635" y="6359426"/>
            <a:ext cx="4316730" cy="121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Почему помощник машиниста: </a:t>
            </a:r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массовая, дефицитная и жёстко регламентированная профессия — идеальна для проверки RAG.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753100" y="2639020"/>
            <a:ext cx="11582400" cy="1811536"/>
          </a:xfrm>
          <a:prstGeom prst="roundRect">
            <a:avLst>
              <a:gd name="adj" fmla="val 8413"/>
            </a:avLst>
          </a:prstGeom>
          <a:solidFill>
            <a:srgbClr val="FDECEC"/>
          </a:solidFill>
          <a:ln w="19050">
            <a:solidFill>
              <a:srgbClr val="E2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150" y="2981920"/>
            <a:ext cx="11860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КРИТЕРИЙ СТОП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3150" y="3305770"/>
            <a:ext cx="1186053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Точность ответов ниже 85%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153150" y="3840956"/>
            <a:ext cx="11860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Останавливаем пилот и разбираем причины.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5753100" y="4698206"/>
            <a:ext cx="11582400" cy="1811536"/>
          </a:xfrm>
          <a:prstGeom prst="roundRect">
            <a:avLst>
              <a:gd name="adj" fmla="val 8413"/>
            </a:avLst>
          </a:prstGeom>
          <a:solidFill>
            <a:srgbClr val="F5F5F9"/>
          </a:solidFill>
          <a:ln w="1905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150" y="5041106"/>
            <a:ext cx="11860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КРИТЕРИЙ МАСШТАБА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53150" y="5364956"/>
            <a:ext cx="1186053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≥ 70% вопросов ботом · CSAT ≥ 4,0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153150" y="5900142"/>
            <a:ext cx="118605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Разворачиваем на следующие профессии.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5173980" y="6757392"/>
            <a:ext cx="127406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 ≠ вся система </a:t>
            </a:r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запускаем только Локобот 2.0, не всё сразу.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8185845"/>
            <a:ext cx="16383000" cy="977205"/>
          </a:xfrm>
          <a:prstGeom prst="roundRect">
            <a:avLst>
              <a:gd name="adj" fmla="val 15595"/>
            </a:avLst>
          </a:prstGeom>
          <a:solidFill>
            <a:srgbClr val="F5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" y="8451652"/>
            <a:ext cx="1622375" cy="483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189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ЧТО ПРОВЕРЯЕМ В ПИЛОТЕ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146375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275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22625" y="8544371"/>
            <a:ext cx="4216866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Точность ответов бота по регламентам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7850684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7812584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2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26934" y="8414445"/>
            <a:ext cx="4099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Доля вопросов без эскалации к наставнику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2554992" y="8502997"/>
            <a:ext cx="342900" cy="342900"/>
          </a:xfrm>
          <a:prstGeom prst="ellipse">
            <a:avLst/>
          </a:prstGeom>
          <a:solidFill>
            <a:srgbClr val="E2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2516892" y="8502997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3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031242" y="8544371"/>
            <a:ext cx="4001259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Удовлетворённость новичков (CSAT)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5" name="Text 33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08 / 10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810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704850"/>
            <a:ext cx="1115804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ЭКОНОМИКА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1028700"/>
            <a:ext cx="11158046" cy="582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42" kern="0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Рискуем малым — масштаб окупается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1953667"/>
            <a:ext cx="5283101" cy="4267200"/>
          </a:xfrm>
          <a:prstGeom prst="roundRect">
            <a:avLst>
              <a:gd name="adj" fmla="val 4018"/>
            </a:avLst>
          </a:prstGeom>
          <a:solidFill>
            <a:srgbClr val="F5F5F9"/>
          </a:solidFill>
          <a:ln/>
        </p:spPr>
      </p:sp>
      <p:sp>
        <p:nvSpPr>
          <p:cNvPr id="6" name="Shape 4"/>
          <p:cNvSpPr/>
          <p:nvPr/>
        </p:nvSpPr>
        <p:spPr>
          <a:xfrm>
            <a:off x="1295400" y="2710160"/>
            <a:ext cx="533400" cy="5334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8750" y="2843510"/>
            <a:ext cx="26670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81200" y="2881610"/>
            <a:ext cx="6347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ПИЛОТ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295400" y="3434060"/>
            <a:ext cx="47352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Обратим и недорог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1295400" y="4577060"/>
            <a:ext cx="4735220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Работает на существующей команде Сервисного портала, без капитальных вложений.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6502301" y="1953667"/>
            <a:ext cx="5283250" cy="4267200"/>
          </a:xfrm>
          <a:prstGeom prst="roundRect">
            <a:avLst>
              <a:gd name="adj" fmla="val 4018"/>
            </a:avLst>
          </a:prstGeom>
          <a:solidFill>
            <a:srgbClr val="16213E"/>
          </a:solidFill>
          <a:ln/>
        </p:spPr>
      </p:sp>
      <p:sp>
        <p:nvSpPr>
          <p:cNvPr id="12" name="Shape 9"/>
          <p:cNvSpPr/>
          <p:nvPr/>
        </p:nvSpPr>
        <p:spPr>
          <a:xfrm>
            <a:off x="6845201" y="2464296"/>
            <a:ext cx="533400" cy="5334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551" y="2597646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31001" y="2635746"/>
            <a:ext cx="8581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FF6B6B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МАСШТАБ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6845201" y="3188196"/>
            <a:ext cx="505719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+242</a:t>
            </a:r>
            <a:endParaRPr lang="en-US" sz="7050" dirty="0"/>
          </a:p>
        </p:txBody>
      </p:sp>
      <p:sp>
        <p:nvSpPr>
          <p:cNvPr id="16" name="Text 12"/>
          <p:cNvSpPr/>
          <p:nvPr/>
        </p:nvSpPr>
        <p:spPr>
          <a:xfrm>
            <a:off x="6845201" y="4051102"/>
            <a:ext cx="5057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млн ₽ / год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845201" y="4527352"/>
            <a:ext cx="4735373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AEB6C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Экономия на удержании: каждый сотрудник, не уволившийся в первый год, экономит стоимость повторного найма и обучения.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12052250" y="1953667"/>
            <a:ext cx="5283250" cy="4267200"/>
          </a:xfrm>
          <a:prstGeom prst="roundRect">
            <a:avLst>
              <a:gd name="adj" fmla="val 4018"/>
            </a:avLst>
          </a:prstGeom>
          <a:solidFill>
            <a:srgbClr val="F5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12395150" y="2612082"/>
            <a:ext cx="533400" cy="5334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28500" y="2745432"/>
            <a:ext cx="266700" cy="2667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080950" y="2783532"/>
            <a:ext cx="8581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7C859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ВОЗВРАТ</a:t>
            </a:r>
            <a:endParaRPr lang="en-US" sz="1275" dirty="0"/>
          </a:p>
        </p:txBody>
      </p:sp>
      <p:sp>
        <p:nvSpPr>
          <p:cNvPr id="22" name="Text 17"/>
          <p:cNvSpPr/>
          <p:nvPr/>
        </p:nvSpPr>
        <p:spPr>
          <a:xfrm>
            <a:off x="12395150" y="3335982"/>
            <a:ext cx="505719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50" b="1" dirty="0">
                <a:solidFill>
                  <a:srgbClr val="E21A1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≈105%</a:t>
            </a:r>
            <a:endParaRPr lang="en-US" sz="7050" dirty="0"/>
          </a:p>
        </p:txBody>
      </p:sp>
      <p:sp>
        <p:nvSpPr>
          <p:cNvPr id="23" name="Text 18"/>
          <p:cNvSpPr/>
          <p:nvPr/>
        </p:nvSpPr>
        <p:spPr>
          <a:xfrm>
            <a:off x="12395150" y="4198888"/>
            <a:ext cx="5057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ROI</a:t>
            </a:r>
            <a:endParaRPr lang="en-US" sz="2250" dirty="0"/>
          </a:p>
        </p:txBody>
      </p:sp>
      <p:sp>
        <p:nvSpPr>
          <p:cNvPr id="24" name="Text 19"/>
          <p:cNvSpPr/>
          <p:nvPr/>
        </p:nvSpPr>
        <p:spPr>
          <a:xfrm>
            <a:off x="12395150" y="4675138"/>
            <a:ext cx="4735373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25" dirty="0">
                <a:solidFill>
                  <a:srgbClr val="7C859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 учитывает реальные затраты на инфраструктуру и поддержку при масштабировании.</a:t>
            </a:r>
            <a:endParaRPr lang="en-US" sz="1725" dirty="0"/>
          </a:p>
        </p:txBody>
      </p:sp>
      <p:sp>
        <p:nvSpPr>
          <p:cNvPr id="25" name="Shape 20"/>
          <p:cNvSpPr/>
          <p:nvPr/>
        </p:nvSpPr>
        <p:spPr>
          <a:xfrm>
            <a:off x="952500" y="6487567"/>
            <a:ext cx="16383000" cy="952500"/>
          </a:xfrm>
          <a:prstGeom prst="roundRect">
            <a:avLst>
              <a:gd name="adj" fmla="val 16000"/>
            </a:avLst>
          </a:prstGeom>
          <a:solidFill>
            <a:srgbClr val="FDECEC"/>
          </a:solidFill>
          <a:ln/>
        </p:spPr>
      </p:sp>
      <p:sp>
        <p:nvSpPr>
          <p:cNvPr id="26" name="Shape 21"/>
          <p:cNvSpPr/>
          <p:nvPr/>
        </p:nvSpPr>
        <p:spPr>
          <a:xfrm>
            <a:off x="1276350" y="6716167"/>
            <a:ext cx="66675" cy="495300"/>
          </a:xfrm>
          <a:prstGeom prst="roundRect">
            <a:avLst>
              <a:gd name="adj" fmla="val 42857"/>
            </a:avLst>
          </a:prstGeom>
          <a:solidFill>
            <a:srgbClr val="E21A1A"/>
          </a:solidFill>
          <a:ln/>
        </p:spPr>
      </p:sp>
      <p:sp>
        <p:nvSpPr>
          <p:cNvPr id="27" name="Text 22"/>
          <p:cNvSpPr/>
          <p:nvPr/>
        </p:nvSpPr>
        <p:spPr>
          <a:xfrm>
            <a:off x="1533525" y="6809036"/>
            <a:ext cx="1597687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16213E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пилоте решение не окупается — и это правильно: пилот проверяет гипотезы. Экономика разворачивается на масштабе.</a:t>
            </a:r>
            <a:endParaRPr lang="en-US" sz="1875" dirty="0"/>
          </a:p>
        </p:txBody>
      </p:sp>
      <p:sp>
        <p:nvSpPr>
          <p:cNvPr id="28" name="Text 23"/>
          <p:cNvSpPr/>
          <p:nvPr/>
        </p:nvSpPr>
        <p:spPr>
          <a:xfrm>
            <a:off x="952500" y="7611517"/>
            <a:ext cx="1802130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A2A9B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 только удержание сотрудников. Высвобождение наставников (~68 FTE) учитываем как ресурс, а не в деньгах.</a:t>
            </a:r>
            <a:endParaRPr lang="en-US" sz="1575" dirty="0"/>
          </a:p>
        </p:txBody>
      </p:sp>
      <p:sp>
        <p:nvSpPr>
          <p:cNvPr id="29" name="Text 24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16213E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/>
        </p:spPr>
      </p:sp>
      <p:sp>
        <p:nvSpPr>
          <p:cNvPr id="31" name="Text 26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A2A9B8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09 / 10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42950"/>
            <a:ext cx="85725" cy="6286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85875" y="666750"/>
            <a:ext cx="58322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0" kern="0" dirty="0">
                <a:solidFill>
                  <a:srgbClr val="E21A1A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РИСКИ И ПРИЗЫВ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85875" y="990600"/>
            <a:ext cx="5832202" cy="543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b="1" spc="-39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Риски под контролем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876723"/>
            <a:ext cx="5308550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1125" y="2324398"/>
            <a:ext cx="247650" cy="2476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7300" y="2848273"/>
            <a:ext cx="5168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Галлюцинации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57300" y="3295948"/>
            <a:ext cx="483991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Бот отвечает только из проверенной базы со ссылкой на источник; при неуверенности — переводит на наставника.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489650" y="1876723"/>
            <a:ext cx="5308699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11" name="Shape 8"/>
          <p:cNvSpPr/>
          <p:nvPr/>
        </p:nvSpPr>
        <p:spPr>
          <a:xfrm>
            <a:off x="679445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8275" y="2324398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4450" y="2848273"/>
            <a:ext cx="5169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Данные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6794450" y="3295948"/>
            <a:ext cx="484007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Всё в защищённом контуре РЖД, российские модели, чувствительные данные исключены.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12026950" y="1876723"/>
            <a:ext cx="5308550" cy="2647950"/>
          </a:xfrm>
          <a:prstGeom prst="roundRect">
            <a:avLst>
              <a:gd name="adj" fmla="val 5755"/>
            </a:avLst>
          </a:prstGeom>
          <a:solidFill>
            <a:srgbClr val="1E2C4A"/>
          </a:solidFill>
          <a:ln/>
        </p:spPr>
      </p:sp>
      <p:sp>
        <p:nvSpPr>
          <p:cNvPr id="16" name="Shape 12"/>
          <p:cNvSpPr/>
          <p:nvPr/>
        </p:nvSpPr>
        <p:spPr>
          <a:xfrm>
            <a:off x="12331750" y="2200573"/>
            <a:ext cx="495300" cy="495300"/>
          </a:xfrm>
          <a:prstGeom prst="ellipse">
            <a:avLst/>
          </a:prstGeom>
          <a:solidFill>
            <a:srgbClr val="E21A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55575" y="2324398"/>
            <a:ext cx="247650" cy="2476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31750" y="2848273"/>
            <a:ext cx="5168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Деньги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2331750" y="3295948"/>
            <a:ext cx="483991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6DCE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Обратимый пилот с понятными критериями — рискуем малым, масштаб под доказанный эффект.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952500" y="4905673"/>
            <a:ext cx="2918520" cy="1333500"/>
          </a:xfrm>
          <a:prstGeom prst="roundRect">
            <a:avLst>
              <a:gd name="adj" fmla="val 10000"/>
            </a:avLst>
          </a:prstGeom>
          <a:solidFill>
            <a:srgbClr val="E21A1A"/>
          </a:solidFill>
          <a:ln/>
        </p:spPr>
      </p:sp>
      <p:sp>
        <p:nvSpPr>
          <p:cNvPr id="21" name="Text 16"/>
          <p:cNvSpPr/>
          <p:nvPr/>
        </p:nvSpPr>
        <p:spPr>
          <a:xfrm>
            <a:off x="1238250" y="5320010"/>
            <a:ext cx="2581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FFFFFF">
                    <a:alpha val="8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ШАГ 0</a:t>
            </a:r>
            <a:endParaRPr lang="en-US" sz="1125" dirty="0"/>
          </a:p>
        </p:txBody>
      </p:sp>
      <p:sp>
        <p:nvSpPr>
          <p:cNvPr id="22" name="Text 17"/>
          <p:cNvSpPr/>
          <p:nvPr/>
        </p:nvSpPr>
        <p:spPr>
          <a:xfrm>
            <a:off x="1238250" y="5529560"/>
            <a:ext cx="25817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Согласовать пилот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4023420" y="4905673"/>
            <a:ext cx="3619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Shape 19"/>
          <p:cNvSpPr/>
          <p:nvPr/>
        </p:nvSpPr>
        <p:spPr>
          <a:xfrm>
            <a:off x="4461570" y="4905673"/>
            <a:ext cx="6141690" cy="1333500"/>
          </a:xfrm>
          <a:prstGeom prst="roundRect">
            <a:avLst>
              <a:gd name="adj" fmla="val 10000"/>
            </a:avLst>
          </a:prstGeom>
          <a:solidFill>
            <a:srgbClr val="1E2C4A"/>
          </a:solidFill>
          <a:ln/>
        </p:spPr>
      </p:sp>
      <p:sp>
        <p:nvSpPr>
          <p:cNvPr id="25" name="Text 20"/>
          <p:cNvSpPr/>
          <p:nvPr/>
        </p:nvSpPr>
        <p:spPr>
          <a:xfrm>
            <a:off x="4747320" y="5329535"/>
            <a:ext cx="61272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8FA0C0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ЧЕРЕЗ 90 ДНЕЙ</a:t>
            </a:r>
            <a:endParaRPr lang="en-US" sz="1125" dirty="0"/>
          </a:p>
        </p:txBody>
      </p:sp>
      <p:sp>
        <p:nvSpPr>
          <p:cNvPr id="26" name="Text 21"/>
          <p:cNvSpPr/>
          <p:nvPr/>
        </p:nvSpPr>
        <p:spPr>
          <a:xfrm>
            <a:off x="4747320" y="5539085"/>
            <a:ext cx="61272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Работающий MVP Локобота 2.0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0755660" y="4905673"/>
            <a:ext cx="3619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6B6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3"/>
          <p:cNvSpPr/>
          <p:nvPr/>
        </p:nvSpPr>
        <p:spPr>
          <a:xfrm>
            <a:off x="11193810" y="4905673"/>
            <a:ext cx="6141690" cy="1333500"/>
          </a:xfrm>
          <a:prstGeom prst="roundRect">
            <a:avLst>
              <a:gd name="adj" fmla="val 10000"/>
            </a:avLst>
          </a:prstGeom>
          <a:solidFill>
            <a:srgbClr val="1E2C4A"/>
          </a:solidFill>
          <a:ln/>
        </p:spPr>
      </p:sp>
      <p:sp>
        <p:nvSpPr>
          <p:cNvPr id="29" name="Text 24"/>
          <p:cNvSpPr/>
          <p:nvPr/>
        </p:nvSpPr>
        <p:spPr>
          <a:xfrm>
            <a:off x="11479560" y="5191423"/>
            <a:ext cx="61272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8FA0C0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ЧЕРЕЗ ГОД</a:t>
            </a:r>
            <a:endParaRPr lang="en-US" sz="1125" dirty="0"/>
          </a:p>
        </p:txBody>
      </p:sp>
      <p:sp>
        <p:nvSpPr>
          <p:cNvPr id="30" name="Text 25"/>
          <p:cNvSpPr/>
          <p:nvPr/>
        </p:nvSpPr>
        <p:spPr>
          <a:xfrm>
            <a:off x="11479560" y="5400973"/>
            <a:ext cx="573729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Измеримый ответ: разворачивать ли на всю сеть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52500" y="8229600"/>
            <a:ext cx="114300" cy="1047750"/>
          </a:xfrm>
          <a:prstGeom prst="roundRect">
            <a:avLst>
              <a:gd name="adj" fmla="val 33333"/>
            </a:avLst>
          </a:prstGeom>
          <a:solidFill>
            <a:srgbClr val="E21A1A"/>
          </a:solidFill>
          <a:ln/>
        </p:spPr>
      </p:sp>
      <p:sp>
        <p:nvSpPr>
          <p:cNvPr id="32" name="Text 27"/>
          <p:cNvSpPr/>
          <p:nvPr/>
        </p:nvSpPr>
        <p:spPr>
          <a:xfrm>
            <a:off x="1352550" y="7677150"/>
            <a:ext cx="679149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Начнём с малого шага сегодня</a:t>
            </a:r>
            <a:endParaRPr lang="en-US" sz="6300" dirty="0"/>
          </a:p>
        </p:txBody>
      </p:sp>
      <p:sp>
        <p:nvSpPr>
          <p:cNvPr id="33" name="Text 28"/>
          <p:cNvSpPr/>
          <p:nvPr/>
        </p:nvSpPr>
        <p:spPr>
          <a:xfrm>
            <a:off x="952500" y="9648825"/>
            <a:ext cx="36324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Проводник в страну РЖД · GP’26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4521398" y="9748838"/>
            <a:ext cx="11736586" cy="1905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/>
        </p:spPr>
      </p:sp>
      <p:sp>
        <p:nvSpPr>
          <p:cNvPr id="35" name="Text 30"/>
          <p:cNvSpPr/>
          <p:nvPr/>
        </p:nvSpPr>
        <p:spPr>
          <a:xfrm>
            <a:off x="16524684" y="9653588"/>
            <a:ext cx="8870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FFFFF">
                    <a:alpha val="55000"/>
                  </a:srgbClr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10 / 10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2026-07-08T10:55:01Z</dcterms:created>
  <dcterms:modified xsi:type="dcterms:W3CDTF">2026-07-08T10:55:01Z</dcterms:modified>
</cp:coreProperties>
</file>